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7" r:id="rId2"/>
    <p:sldId id="267" r:id="rId3"/>
    <p:sldId id="268" r:id="rId4"/>
    <p:sldId id="288" r:id="rId5"/>
    <p:sldId id="294" r:id="rId6"/>
    <p:sldId id="293" r:id="rId7"/>
    <p:sldId id="290" r:id="rId8"/>
    <p:sldId id="292" r:id="rId9"/>
    <p:sldId id="291" r:id="rId10"/>
    <p:sldId id="289" r:id="rId11"/>
    <p:sldId id="269" r:id="rId12"/>
    <p:sldId id="273" r:id="rId13"/>
    <p:sldId id="266" r:id="rId14"/>
  </p:sldIdLst>
  <p:sldSz cx="9144000" cy="6858000" type="screen4x3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rednji slog 2 – poudarek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28" autoAdjust="0"/>
    <p:restoredTop sz="99275" autoAdjust="0"/>
  </p:normalViewPr>
  <p:slideViewPr>
    <p:cSldViewPr>
      <p:cViewPr varScale="1">
        <p:scale>
          <a:sx n="89" d="100"/>
          <a:sy n="89" d="100"/>
        </p:scale>
        <p:origin x="145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grada glav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3" name="Ograda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100F18-74BC-4EF4-8B6E-EBAF36314B67}" type="datetimeFigureOut">
              <a:rPr lang="sl-SI" smtClean="0"/>
              <a:pPr/>
              <a:t>8. 01. 2019</a:t>
            </a:fld>
            <a:endParaRPr lang="sl-SI"/>
          </a:p>
        </p:txBody>
      </p:sp>
      <p:sp>
        <p:nvSpPr>
          <p:cNvPr id="4" name="Ograda stranske slik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l-SI"/>
          </a:p>
        </p:txBody>
      </p:sp>
      <p:sp>
        <p:nvSpPr>
          <p:cNvPr id="5" name="Ograda opomb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 smtClean="0"/>
              <a:t>Kliknite, če želite urediti sloge besedila matrice</a:t>
            </a:r>
          </a:p>
          <a:p>
            <a:pPr lvl="1"/>
            <a:r>
              <a:rPr lang="sl-SI" smtClean="0"/>
              <a:t>Druga raven</a:t>
            </a:r>
          </a:p>
          <a:p>
            <a:pPr lvl="2"/>
            <a:r>
              <a:rPr lang="sl-SI" smtClean="0"/>
              <a:t>Tretja raven</a:t>
            </a:r>
          </a:p>
          <a:p>
            <a:pPr lvl="3"/>
            <a:r>
              <a:rPr lang="sl-SI" smtClean="0"/>
              <a:t>Četrta raven</a:t>
            </a:r>
          </a:p>
          <a:p>
            <a:pPr lvl="4"/>
            <a:r>
              <a:rPr lang="sl-SI" smtClean="0"/>
              <a:t>Peta raven</a:t>
            </a:r>
            <a:endParaRPr lang="sl-SI"/>
          </a:p>
        </p:txBody>
      </p:sp>
      <p:sp>
        <p:nvSpPr>
          <p:cNvPr id="6" name="Ograda no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7" name="Ograda številke diapoz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36F58B-AA93-4E8C-A20D-4206B9286893}" type="slidenum">
              <a:rPr lang="sl-SI" smtClean="0"/>
              <a:pPr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51109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grad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grada opomb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sl-SI" dirty="0"/>
          </a:p>
        </p:txBody>
      </p:sp>
      <p:sp>
        <p:nvSpPr>
          <p:cNvPr id="4" name="Ograda številke diapoz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36F58B-AA93-4E8C-A20D-4206B9286893}" type="slidenum">
              <a:rPr lang="sl-SI" smtClean="0"/>
              <a:pPr/>
              <a:t>1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01894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sl-SI" smtClean="0"/>
              <a:t>Kliknite, če želite urediti slog naslova matrice</a:t>
            </a:r>
            <a:endParaRPr lang="sl-SI" dirty="0"/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l-SI" smtClean="0"/>
              <a:t>Kliknite, če želite urediti slog podnaslova matrice</a:t>
            </a:r>
            <a:endParaRPr lang="sl-SI" dirty="0"/>
          </a:p>
        </p:txBody>
      </p:sp>
      <p:sp>
        <p:nvSpPr>
          <p:cNvPr id="4" name="Ograda datuma 3"/>
          <p:cNvSpPr>
            <a:spLocks noGrp="1"/>
          </p:cNvSpPr>
          <p:nvPr>
            <p:ph type="dt" sz="half" idx="10"/>
          </p:nvPr>
        </p:nvSpPr>
        <p:spPr>
          <a:xfrm>
            <a:off x="142844" y="6572272"/>
            <a:ext cx="2133600" cy="35719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fld id="{B9EC41DA-2D1C-4FE0-A66D-FEB689C8995C}" type="datetime1">
              <a:rPr lang="sl-SI" smtClean="0"/>
              <a:pPr/>
              <a:t>8. 01. 2019</a:t>
            </a:fld>
            <a:endParaRPr lang="sl-SI"/>
          </a:p>
        </p:txBody>
      </p:sp>
      <p:sp>
        <p:nvSpPr>
          <p:cNvPr id="6" name="Ograda številke diapozitiva 5"/>
          <p:cNvSpPr>
            <a:spLocks noGrp="1"/>
          </p:cNvSpPr>
          <p:nvPr>
            <p:ph type="sldNum" sz="quarter" idx="12"/>
          </p:nvPr>
        </p:nvSpPr>
        <p:spPr>
          <a:xfrm>
            <a:off x="6867556" y="6572272"/>
            <a:ext cx="2133600" cy="285752"/>
          </a:xfrm>
        </p:spPr>
        <p:txBody>
          <a:bodyPr/>
          <a:lstStyle>
            <a:lvl1pPr>
              <a:defRPr>
                <a:latin typeface="+mn-lt"/>
                <a:cs typeface="Arial" pitchFamily="34" charset="0"/>
              </a:defRPr>
            </a:lvl1pPr>
          </a:lstStyle>
          <a:p>
            <a:fld id="{93F25B5F-0E27-49EB-8952-94DBB9B789D6}" type="slidenum">
              <a:rPr lang="sl-SI" smtClean="0"/>
              <a:pPr/>
              <a:t>‹#›</a:t>
            </a:fld>
            <a:endParaRPr lang="sl-SI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mtClean="0"/>
              <a:t>Kliknite, če želite urediti slog naslova matrice</a:t>
            </a:r>
            <a:endParaRPr lang="sl-SI"/>
          </a:p>
        </p:txBody>
      </p:sp>
      <p:sp>
        <p:nvSpPr>
          <p:cNvPr id="3" name="Ograda vsebin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 smtClean="0"/>
              <a:t>Kliknite, če želite urediti sloge besedila matrice</a:t>
            </a:r>
          </a:p>
          <a:p>
            <a:pPr lvl="1"/>
            <a:r>
              <a:rPr lang="sl-SI" smtClean="0"/>
              <a:t>Druga raven</a:t>
            </a:r>
          </a:p>
          <a:p>
            <a:pPr lvl="2"/>
            <a:r>
              <a:rPr lang="sl-SI" smtClean="0"/>
              <a:t>Tretja raven</a:t>
            </a:r>
          </a:p>
          <a:p>
            <a:pPr lvl="3"/>
            <a:r>
              <a:rPr lang="sl-SI" smtClean="0"/>
              <a:t>Četrta raven</a:t>
            </a:r>
          </a:p>
          <a:p>
            <a:pPr lvl="4"/>
            <a:r>
              <a:rPr lang="sl-SI" smtClean="0"/>
              <a:t>Peta raven</a:t>
            </a:r>
            <a:endParaRPr lang="sl-SI" dirty="0"/>
          </a:p>
        </p:txBody>
      </p:sp>
      <p:sp>
        <p:nvSpPr>
          <p:cNvPr id="4" name="Ograda datuma 3"/>
          <p:cNvSpPr>
            <a:spLocks noGrp="1"/>
          </p:cNvSpPr>
          <p:nvPr>
            <p:ph type="dt" sz="half" idx="10"/>
          </p:nvPr>
        </p:nvSpPr>
        <p:spPr>
          <a:xfrm>
            <a:off x="142844" y="6564337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fld id="{E81DF019-CEC0-4675-8781-99E13B68C24B}" type="datetime1">
              <a:rPr lang="sl-SI" smtClean="0"/>
              <a:pPr/>
              <a:t>8. 01. 2019</a:t>
            </a:fld>
            <a:endParaRPr lang="sl-SI" dirty="0"/>
          </a:p>
        </p:txBody>
      </p:sp>
      <p:sp>
        <p:nvSpPr>
          <p:cNvPr id="6" name="Ograda številke diapoz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93F25B5F-0E27-49EB-8952-94DBB9B789D6}" type="slidenum">
              <a:rPr lang="sl-SI" smtClean="0"/>
              <a:pPr/>
              <a:t>‹#›</a:t>
            </a:fld>
            <a:endParaRPr lang="sl-SI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sl-SI" smtClean="0"/>
              <a:t>Kliknite, če želite urediti slog naslova matrice</a:t>
            </a:r>
            <a:endParaRPr lang="sl-SI"/>
          </a:p>
        </p:txBody>
      </p:sp>
      <p:sp>
        <p:nvSpPr>
          <p:cNvPr id="3" name="Ograda besedila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 smtClean="0"/>
              <a:t>Kliknite, če želite urediti sloge besedila matrice</a:t>
            </a:r>
          </a:p>
        </p:txBody>
      </p:sp>
      <p:sp>
        <p:nvSpPr>
          <p:cNvPr id="4" name="Ograda datuma 3"/>
          <p:cNvSpPr>
            <a:spLocks noGrp="1"/>
          </p:cNvSpPr>
          <p:nvPr>
            <p:ph type="dt" sz="half" idx="10"/>
          </p:nvPr>
        </p:nvSpPr>
        <p:spPr>
          <a:xfrm>
            <a:off x="142844" y="6564337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fld id="{EBBB65A7-60FC-43C0-AA6B-E496F683F1A3}" type="datetime1">
              <a:rPr lang="sl-SI" smtClean="0"/>
              <a:pPr/>
              <a:t>8. 01. 2019</a:t>
            </a:fld>
            <a:endParaRPr lang="sl-SI" dirty="0"/>
          </a:p>
        </p:txBody>
      </p:sp>
      <p:sp>
        <p:nvSpPr>
          <p:cNvPr id="6" name="Ograda številke diapoz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93F25B5F-0E27-49EB-8952-94DBB9B789D6}" type="slidenum">
              <a:rPr lang="sl-SI" smtClean="0"/>
              <a:pPr/>
              <a:t>‹#›</a:t>
            </a:fld>
            <a:endParaRPr lang="sl-SI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mtClean="0"/>
              <a:t>Kliknite, če želite urediti slog naslova matrice</a:t>
            </a:r>
            <a:endParaRPr lang="sl-SI"/>
          </a:p>
        </p:txBody>
      </p:sp>
      <p:sp>
        <p:nvSpPr>
          <p:cNvPr id="3" name="Ograda vsebine 2"/>
          <p:cNvSpPr>
            <a:spLocks noGrp="1"/>
          </p:cNvSpPr>
          <p:nvPr>
            <p:ph sz="half" idx="1"/>
          </p:nvPr>
        </p:nvSpPr>
        <p:spPr>
          <a:xfrm>
            <a:off x="457200" y="183199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l-SI" smtClean="0"/>
              <a:t>Kliknite, če želite urediti sloge besedila matrice</a:t>
            </a:r>
          </a:p>
          <a:p>
            <a:pPr lvl="1"/>
            <a:r>
              <a:rPr lang="sl-SI" smtClean="0"/>
              <a:t>Druga raven</a:t>
            </a:r>
          </a:p>
          <a:p>
            <a:pPr lvl="2"/>
            <a:r>
              <a:rPr lang="sl-SI" smtClean="0"/>
              <a:t>Tretja raven</a:t>
            </a:r>
          </a:p>
          <a:p>
            <a:pPr lvl="3"/>
            <a:r>
              <a:rPr lang="sl-SI" smtClean="0"/>
              <a:t>Četrta raven</a:t>
            </a:r>
          </a:p>
          <a:p>
            <a:pPr lvl="4"/>
            <a:r>
              <a:rPr lang="sl-SI" smtClean="0"/>
              <a:t>Peta raven</a:t>
            </a:r>
            <a:endParaRPr lang="sl-SI" dirty="0"/>
          </a:p>
        </p:txBody>
      </p:sp>
      <p:sp>
        <p:nvSpPr>
          <p:cNvPr id="4" name="Ograda vsebine 3"/>
          <p:cNvSpPr>
            <a:spLocks noGrp="1"/>
          </p:cNvSpPr>
          <p:nvPr>
            <p:ph sz="half" idx="2"/>
          </p:nvPr>
        </p:nvSpPr>
        <p:spPr>
          <a:xfrm>
            <a:off x="4648200" y="183199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l-SI" smtClean="0"/>
              <a:t>Kliknite, če želite urediti sloge besedila matrice</a:t>
            </a:r>
          </a:p>
          <a:p>
            <a:pPr lvl="1"/>
            <a:r>
              <a:rPr lang="sl-SI" smtClean="0"/>
              <a:t>Druga raven</a:t>
            </a:r>
          </a:p>
          <a:p>
            <a:pPr lvl="2"/>
            <a:r>
              <a:rPr lang="sl-SI" smtClean="0"/>
              <a:t>Tretja raven</a:t>
            </a:r>
          </a:p>
          <a:p>
            <a:pPr lvl="3"/>
            <a:r>
              <a:rPr lang="sl-SI" smtClean="0"/>
              <a:t>Četrta raven</a:t>
            </a:r>
          </a:p>
          <a:p>
            <a:pPr lvl="4"/>
            <a:r>
              <a:rPr lang="sl-SI" smtClean="0"/>
              <a:t>Peta raven</a:t>
            </a:r>
            <a:endParaRPr lang="sl-SI" dirty="0"/>
          </a:p>
        </p:txBody>
      </p:sp>
      <p:sp>
        <p:nvSpPr>
          <p:cNvPr id="5" name="Ograda datuma 4"/>
          <p:cNvSpPr>
            <a:spLocks noGrp="1"/>
          </p:cNvSpPr>
          <p:nvPr>
            <p:ph type="dt" sz="half" idx="10"/>
          </p:nvPr>
        </p:nvSpPr>
        <p:spPr>
          <a:xfrm>
            <a:off x="142844" y="6564337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fld id="{A1C4D80D-EF35-4571-A75B-46D4B086310B}" type="datetime1">
              <a:rPr lang="sl-SI" smtClean="0"/>
              <a:pPr/>
              <a:t>8. 01. 2019</a:t>
            </a:fld>
            <a:endParaRPr lang="sl-SI" dirty="0"/>
          </a:p>
        </p:txBody>
      </p:sp>
      <p:sp>
        <p:nvSpPr>
          <p:cNvPr id="7" name="Ograda številke diapoz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93F25B5F-0E27-49EB-8952-94DBB9B789D6}" type="slidenum">
              <a:rPr lang="sl-SI" smtClean="0"/>
              <a:pPr/>
              <a:t>‹#›</a:t>
            </a:fld>
            <a:endParaRPr lang="sl-SI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l-SI" smtClean="0"/>
              <a:t>Kliknite, če želite urediti slog naslova matrice</a:t>
            </a:r>
            <a:endParaRPr lang="sl-SI"/>
          </a:p>
        </p:txBody>
      </p:sp>
      <p:sp>
        <p:nvSpPr>
          <p:cNvPr id="3" name="Ograda besedila 2"/>
          <p:cNvSpPr>
            <a:spLocks noGrp="1"/>
          </p:cNvSpPr>
          <p:nvPr>
            <p:ph type="body" idx="1"/>
          </p:nvPr>
        </p:nvSpPr>
        <p:spPr>
          <a:xfrm>
            <a:off x="457200" y="1931982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 smtClean="0"/>
              <a:t>Kliknite, če želite urediti sloge besedila matrice</a:t>
            </a:r>
          </a:p>
        </p:txBody>
      </p:sp>
      <p:sp>
        <p:nvSpPr>
          <p:cNvPr id="4" name="Ograda vsebine 3"/>
          <p:cNvSpPr>
            <a:spLocks noGrp="1"/>
          </p:cNvSpPr>
          <p:nvPr>
            <p:ph sz="half" idx="2"/>
          </p:nvPr>
        </p:nvSpPr>
        <p:spPr>
          <a:xfrm>
            <a:off x="457200" y="2549546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l-SI" smtClean="0"/>
              <a:t>Kliknite, če želite urediti sloge besedila matrice</a:t>
            </a:r>
          </a:p>
          <a:p>
            <a:pPr lvl="1"/>
            <a:r>
              <a:rPr lang="sl-SI" smtClean="0"/>
              <a:t>Druga raven</a:t>
            </a:r>
          </a:p>
          <a:p>
            <a:pPr lvl="2"/>
            <a:r>
              <a:rPr lang="sl-SI" smtClean="0"/>
              <a:t>Tretja raven</a:t>
            </a:r>
          </a:p>
          <a:p>
            <a:pPr lvl="3"/>
            <a:r>
              <a:rPr lang="sl-SI" smtClean="0"/>
              <a:t>Četrta raven</a:t>
            </a:r>
          </a:p>
          <a:p>
            <a:pPr lvl="4"/>
            <a:r>
              <a:rPr lang="sl-SI" smtClean="0"/>
              <a:t>Peta raven</a:t>
            </a:r>
            <a:endParaRPr lang="sl-SI" dirty="0"/>
          </a:p>
        </p:txBody>
      </p:sp>
      <p:sp>
        <p:nvSpPr>
          <p:cNvPr id="5" name="Ograda besedila 4"/>
          <p:cNvSpPr>
            <a:spLocks noGrp="1"/>
          </p:cNvSpPr>
          <p:nvPr>
            <p:ph type="body" sz="quarter" idx="3"/>
          </p:nvPr>
        </p:nvSpPr>
        <p:spPr>
          <a:xfrm>
            <a:off x="4645025" y="1931982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 smtClean="0"/>
              <a:t>Kliknite, če želite urediti sloge besedila matrice</a:t>
            </a:r>
          </a:p>
        </p:txBody>
      </p:sp>
      <p:sp>
        <p:nvSpPr>
          <p:cNvPr id="6" name="Ograda vsebine 5"/>
          <p:cNvSpPr>
            <a:spLocks noGrp="1"/>
          </p:cNvSpPr>
          <p:nvPr>
            <p:ph sz="quarter" idx="4"/>
          </p:nvPr>
        </p:nvSpPr>
        <p:spPr>
          <a:xfrm>
            <a:off x="4645025" y="2549546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l-SI" smtClean="0"/>
              <a:t>Kliknite, če želite urediti sloge besedila matrice</a:t>
            </a:r>
          </a:p>
          <a:p>
            <a:pPr lvl="1"/>
            <a:r>
              <a:rPr lang="sl-SI" smtClean="0"/>
              <a:t>Druga raven</a:t>
            </a:r>
          </a:p>
          <a:p>
            <a:pPr lvl="2"/>
            <a:r>
              <a:rPr lang="sl-SI" smtClean="0"/>
              <a:t>Tretja raven</a:t>
            </a:r>
          </a:p>
          <a:p>
            <a:pPr lvl="3"/>
            <a:r>
              <a:rPr lang="sl-SI" smtClean="0"/>
              <a:t>Četrta raven</a:t>
            </a:r>
          </a:p>
          <a:p>
            <a:pPr lvl="4"/>
            <a:r>
              <a:rPr lang="sl-SI" smtClean="0"/>
              <a:t>Peta raven</a:t>
            </a:r>
            <a:endParaRPr lang="sl-SI" dirty="0"/>
          </a:p>
        </p:txBody>
      </p:sp>
      <p:sp>
        <p:nvSpPr>
          <p:cNvPr id="7" name="Ograda datuma 6"/>
          <p:cNvSpPr>
            <a:spLocks noGrp="1"/>
          </p:cNvSpPr>
          <p:nvPr>
            <p:ph type="dt" sz="half" idx="10"/>
          </p:nvPr>
        </p:nvSpPr>
        <p:spPr>
          <a:xfrm>
            <a:off x="142844" y="6564337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fld id="{F8861D29-B56D-41A9-9661-45389319DB90}" type="datetime1">
              <a:rPr lang="sl-SI" smtClean="0"/>
              <a:pPr/>
              <a:t>8. 01. 2019</a:t>
            </a:fld>
            <a:endParaRPr lang="sl-SI"/>
          </a:p>
        </p:txBody>
      </p:sp>
      <p:sp>
        <p:nvSpPr>
          <p:cNvPr id="9" name="Ograda številke diapoz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93F25B5F-0E27-49EB-8952-94DBB9B789D6}" type="slidenum">
              <a:rPr lang="sl-SI" smtClean="0"/>
              <a:pPr/>
              <a:t>‹#›</a:t>
            </a:fld>
            <a:endParaRPr lang="sl-SI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mtClean="0"/>
              <a:t>Kliknite, če želite urediti slog naslova matrice</a:t>
            </a:r>
            <a:endParaRPr lang="sl-SI"/>
          </a:p>
        </p:txBody>
      </p:sp>
      <p:sp>
        <p:nvSpPr>
          <p:cNvPr id="3" name="Ograda datuma 2"/>
          <p:cNvSpPr>
            <a:spLocks noGrp="1"/>
          </p:cNvSpPr>
          <p:nvPr>
            <p:ph type="dt" sz="half" idx="10"/>
          </p:nvPr>
        </p:nvSpPr>
        <p:spPr>
          <a:xfrm>
            <a:off x="152384" y="6564337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fld id="{92D28453-7EE3-4083-8171-BDCA5DD8F3F5}" type="datetime1">
              <a:rPr lang="sl-SI" smtClean="0"/>
              <a:pPr/>
              <a:t>8. 01. 2019</a:t>
            </a:fld>
            <a:endParaRPr lang="sl-SI" dirty="0"/>
          </a:p>
        </p:txBody>
      </p:sp>
      <p:sp>
        <p:nvSpPr>
          <p:cNvPr id="5" name="Ograda številke diapoz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93F25B5F-0E27-49EB-8952-94DBB9B789D6}" type="slidenum">
              <a:rPr lang="sl-SI" smtClean="0"/>
              <a:pPr/>
              <a:t>‹#›</a:t>
            </a:fld>
            <a:endParaRPr lang="sl-SI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grada datuma 1"/>
          <p:cNvSpPr>
            <a:spLocks noGrp="1"/>
          </p:cNvSpPr>
          <p:nvPr>
            <p:ph type="dt" sz="half" idx="10"/>
          </p:nvPr>
        </p:nvSpPr>
        <p:spPr>
          <a:xfrm>
            <a:off x="142844" y="6564337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fld id="{A987A679-7DB0-4266-89C2-FEDD7B550DF8}" type="datetime1">
              <a:rPr lang="sl-SI" smtClean="0"/>
              <a:pPr/>
              <a:t>8. 01. 2019</a:t>
            </a:fld>
            <a:endParaRPr lang="sl-SI"/>
          </a:p>
        </p:txBody>
      </p:sp>
      <p:sp>
        <p:nvSpPr>
          <p:cNvPr id="4" name="Ograda številke diapozitiva 3"/>
          <p:cNvSpPr>
            <a:spLocks noGrp="1"/>
          </p:cNvSpPr>
          <p:nvPr>
            <p:ph type="sldNum" sz="quarter" idx="12"/>
          </p:nvPr>
        </p:nvSpPr>
        <p:spPr>
          <a:xfrm>
            <a:off x="6867556" y="6564337"/>
            <a:ext cx="2133600" cy="2936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93F25B5F-0E27-49EB-8952-94DBB9B789D6}" type="slidenum">
              <a:rPr lang="sl-SI" smtClean="0"/>
              <a:pPr/>
              <a:t>‹#›</a:t>
            </a:fld>
            <a:endParaRPr lang="sl-SI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457200" y="504845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l-SI" smtClean="0"/>
              <a:t>Kliknite, če želite urediti slog naslova matrice</a:t>
            </a:r>
            <a:endParaRPr lang="sl-SI"/>
          </a:p>
        </p:txBody>
      </p:sp>
      <p:sp>
        <p:nvSpPr>
          <p:cNvPr id="3" name="Ograda vsebine 2"/>
          <p:cNvSpPr>
            <a:spLocks noGrp="1"/>
          </p:cNvSpPr>
          <p:nvPr>
            <p:ph idx="1"/>
          </p:nvPr>
        </p:nvSpPr>
        <p:spPr>
          <a:xfrm>
            <a:off x="3575050" y="504845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l-SI" smtClean="0"/>
              <a:t>Kliknite, če želite urediti sloge besedila matrice</a:t>
            </a:r>
          </a:p>
          <a:p>
            <a:pPr lvl="1"/>
            <a:r>
              <a:rPr lang="sl-SI" smtClean="0"/>
              <a:t>Druga raven</a:t>
            </a:r>
          </a:p>
          <a:p>
            <a:pPr lvl="2"/>
            <a:r>
              <a:rPr lang="sl-SI" smtClean="0"/>
              <a:t>Tretja raven</a:t>
            </a:r>
          </a:p>
          <a:p>
            <a:pPr lvl="3"/>
            <a:r>
              <a:rPr lang="sl-SI" smtClean="0"/>
              <a:t>Četrta raven</a:t>
            </a:r>
          </a:p>
          <a:p>
            <a:pPr lvl="4"/>
            <a:r>
              <a:rPr lang="sl-SI" smtClean="0"/>
              <a:t>Peta raven</a:t>
            </a:r>
            <a:endParaRPr lang="sl-SI"/>
          </a:p>
        </p:txBody>
      </p:sp>
      <p:sp>
        <p:nvSpPr>
          <p:cNvPr id="4" name="Ograda besedila 3"/>
          <p:cNvSpPr>
            <a:spLocks noGrp="1"/>
          </p:cNvSpPr>
          <p:nvPr>
            <p:ph type="body" sz="half" idx="2"/>
          </p:nvPr>
        </p:nvSpPr>
        <p:spPr>
          <a:xfrm>
            <a:off x="457200" y="1666895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 smtClean="0"/>
              <a:t>Kliknite, če želite urediti sloge besedila matrice</a:t>
            </a:r>
          </a:p>
        </p:txBody>
      </p:sp>
      <p:sp>
        <p:nvSpPr>
          <p:cNvPr id="5" name="Ograda datuma 4"/>
          <p:cNvSpPr>
            <a:spLocks noGrp="1"/>
          </p:cNvSpPr>
          <p:nvPr>
            <p:ph type="dt" sz="half" idx="10"/>
          </p:nvPr>
        </p:nvSpPr>
        <p:spPr>
          <a:xfrm>
            <a:off x="142844" y="6564337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fld id="{1B1B864D-E339-4076-A7C1-E0F5E26F1EDF}" type="datetime1">
              <a:rPr lang="sl-SI" smtClean="0"/>
              <a:pPr/>
              <a:t>8. 01. 2019</a:t>
            </a:fld>
            <a:endParaRPr lang="sl-SI"/>
          </a:p>
        </p:txBody>
      </p:sp>
      <p:sp>
        <p:nvSpPr>
          <p:cNvPr id="7" name="Ograda številke diapoz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93F25B5F-0E27-49EB-8952-94DBB9B789D6}" type="slidenum">
              <a:rPr lang="sl-SI" smtClean="0"/>
              <a:pPr/>
              <a:t>‹#›</a:t>
            </a:fld>
            <a:endParaRPr lang="sl-SI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l-SI" smtClean="0"/>
              <a:t>Kliknite, če želite urediti slog naslova matrice</a:t>
            </a:r>
            <a:endParaRPr lang="sl-SI"/>
          </a:p>
        </p:txBody>
      </p:sp>
      <p:sp>
        <p:nvSpPr>
          <p:cNvPr id="3" name="Ograda slik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l-SI" smtClean="0"/>
              <a:t>Kliknite ikono, če želite dodati sliko</a:t>
            </a:r>
            <a:endParaRPr lang="sl-SI"/>
          </a:p>
        </p:txBody>
      </p:sp>
      <p:sp>
        <p:nvSpPr>
          <p:cNvPr id="4" name="Ograda besedila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 smtClean="0"/>
              <a:t>Kliknite, če želite urediti sloge besedila matrice</a:t>
            </a:r>
          </a:p>
        </p:txBody>
      </p:sp>
      <p:sp>
        <p:nvSpPr>
          <p:cNvPr id="5" name="Ograda datuma 4"/>
          <p:cNvSpPr>
            <a:spLocks noGrp="1"/>
          </p:cNvSpPr>
          <p:nvPr>
            <p:ph type="dt" sz="half" idx="10"/>
          </p:nvPr>
        </p:nvSpPr>
        <p:spPr>
          <a:xfrm>
            <a:off x="142844" y="6564337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fld id="{19F4CB77-8440-42DB-8F82-4A35314E86F1}" type="datetime1">
              <a:rPr lang="sl-SI" smtClean="0"/>
              <a:pPr/>
              <a:t>8. 01. 2019</a:t>
            </a:fld>
            <a:endParaRPr lang="sl-SI" dirty="0"/>
          </a:p>
        </p:txBody>
      </p:sp>
      <p:sp>
        <p:nvSpPr>
          <p:cNvPr id="7" name="Ograda številke diapoz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93F25B5F-0E27-49EB-8952-94DBB9B789D6}" type="slidenum">
              <a:rPr lang="sl-SI" smtClean="0"/>
              <a:pPr/>
              <a:t>‹#›</a:t>
            </a:fld>
            <a:endParaRPr lang="sl-SI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mtClean="0"/>
              <a:t>Kliknite, če želite urediti slog naslova matrice</a:t>
            </a:r>
            <a:endParaRPr lang="sl-SI"/>
          </a:p>
        </p:txBody>
      </p:sp>
      <p:sp>
        <p:nvSpPr>
          <p:cNvPr id="3" name="Ograda navpičnega besedila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l-SI" smtClean="0"/>
              <a:t>Kliknite, če želite urediti sloge besedila matrice</a:t>
            </a:r>
          </a:p>
          <a:p>
            <a:pPr lvl="1"/>
            <a:r>
              <a:rPr lang="sl-SI" smtClean="0"/>
              <a:t>Druga raven</a:t>
            </a:r>
          </a:p>
          <a:p>
            <a:pPr lvl="2"/>
            <a:r>
              <a:rPr lang="sl-SI" smtClean="0"/>
              <a:t>Tretja raven</a:t>
            </a:r>
          </a:p>
          <a:p>
            <a:pPr lvl="3"/>
            <a:r>
              <a:rPr lang="sl-SI" smtClean="0"/>
              <a:t>Četrta raven</a:t>
            </a:r>
          </a:p>
          <a:p>
            <a:pPr lvl="4"/>
            <a:r>
              <a:rPr lang="sl-SI" smtClean="0"/>
              <a:t>Peta raven</a:t>
            </a:r>
            <a:endParaRPr lang="sl-SI"/>
          </a:p>
        </p:txBody>
      </p:sp>
      <p:sp>
        <p:nvSpPr>
          <p:cNvPr id="4" name="Ograda datuma 3"/>
          <p:cNvSpPr>
            <a:spLocks noGrp="1"/>
          </p:cNvSpPr>
          <p:nvPr>
            <p:ph type="dt" sz="half" idx="10"/>
          </p:nvPr>
        </p:nvSpPr>
        <p:spPr>
          <a:xfrm>
            <a:off x="142844" y="6564337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fld id="{4181F4F2-7215-4D47-84A7-314EAB64F246}" type="datetime1">
              <a:rPr lang="sl-SI" smtClean="0"/>
              <a:pPr/>
              <a:t>8. 01. 2019</a:t>
            </a:fld>
            <a:endParaRPr lang="sl-SI"/>
          </a:p>
        </p:txBody>
      </p:sp>
      <p:sp>
        <p:nvSpPr>
          <p:cNvPr id="6" name="Ograda številke diapoz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93F25B5F-0E27-49EB-8952-94DBB9B789D6}" type="slidenum">
              <a:rPr lang="sl-SI" smtClean="0"/>
              <a:pPr/>
              <a:t>‹#›</a:t>
            </a:fld>
            <a:endParaRPr lang="sl-SI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pični naslov 1"/>
          <p:cNvSpPr>
            <a:spLocks noGrp="1"/>
          </p:cNvSpPr>
          <p:nvPr>
            <p:ph type="title" orient="vert"/>
          </p:nvPr>
        </p:nvSpPr>
        <p:spPr>
          <a:xfrm>
            <a:off x="6629400" y="577871"/>
            <a:ext cx="2057400" cy="5851525"/>
          </a:xfrm>
        </p:spPr>
        <p:txBody>
          <a:bodyPr vert="eaVert"/>
          <a:lstStyle/>
          <a:p>
            <a:r>
              <a:rPr lang="sl-SI" smtClean="0"/>
              <a:t>Kliknite, če želite urediti slog naslova matrice</a:t>
            </a:r>
            <a:endParaRPr lang="sl-SI"/>
          </a:p>
        </p:txBody>
      </p:sp>
      <p:sp>
        <p:nvSpPr>
          <p:cNvPr id="3" name="Ograda navpičnega besedila 2"/>
          <p:cNvSpPr>
            <a:spLocks noGrp="1"/>
          </p:cNvSpPr>
          <p:nvPr>
            <p:ph type="body" orient="vert" idx="1"/>
          </p:nvPr>
        </p:nvSpPr>
        <p:spPr>
          <a:xfrm>
            <a:off x="457200" y="577871"/>
            <a:ext cx="6019800" cy="5851525"/>
          </a:xfrm>
        </p:spPr>
        <p:txBody>
          <a:bodyPr vert="eaVert"/>
          <a:lstStyle/>
          <a:p>
            <a:pPr lvl="0"/>
            <a:r>
              <a:rPr lang="sl-SI" smtClean="0"/>
              <a:t>Kliknite, če želite urediti sloge besedila matrice</a:t>
            </a:r>
          </a:p>
          <a:p>
            <a:pPr lvl="1"/>
            <a:r>
              <a:rPr lang="sl-SI" smtClean="0"/>
              <a:t>Druga raven</a:t>
            </a:r>
          </a:p>
          <a:p>
            <a:pPr lvl="2"/>
            <a:r>
              <a:rPr lang="sl-SI" smtClean="0"/>
              <a:t>Tretja raven</a:t>
            </a:r>
          </a:p>
          <a:p>
            <a:pPr lvl="3"/>
            <a:r>
              <a:rPr lang="sl-SI" smtClean="0"/>
              <a:t>Četrta raven</a:t>
            </a:r>
          </a:p>
          <a:p>
            <a:pPr lvl="4"/>
            <a:r>
              <a:rPr lang="sl-SI" smtClean="0"/>
              <a:t>Peta raven</a:t>
            </a:r>
            <a:endParaRPr lang="sl-SI"/>
          </a:p>
        </p:txBody>
      </p:sp>
      <p:sp>
        <p:nvSpPr>
          <p:cNvPr id="4" name="Ograda datuma 3"/>
          <p:cNvSpPr>
            <a:spLocks noGrp="1"/>
          </p:cNvSpPr>
          <p:nvPr>
            <p:ph type="dt" sz="half" idx="10"/>
          </p:nvPr>
        </p:nvSpPr>
        <p:spPr>
          <a:xfrm>
            <a:off x="142844" y="6564337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fld id="{82D5830C-CA4F-4A97-ABCB-134DDC98F78C}" type="datetime1">
              <a:rPr lang="sl-SI" smtClean="0"/>
              <a:pPr/>
              <a:t>8. 01. 2019</a:t>
            </a:fld>
            <a:endParaRPr lang="sl-SI" dirty="0"/>
          </a:p>
        </p:txBody>
      </p:sp>
      <p:sp>
        <p:nvSpPr>
          <p:cNvPr id="6" name="Ograda številke diapoz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93F25B5F-0E27-49EB-8952-94DBB9B789D6}" type="slidenum">
              <a:rPr lang="sl-SI" smtClean="0"/>
              <a:pPr/>
              <a:t>‹#›</a:t>
            </a:fld>
            <a:endParaRPr lang="sl-SI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grada naslova 1"/>
          <p:cNvSpPr>
            <a:spLocks noGrp="1"/>
          </p:cNvSpPr>
          <p:nvPr>
            <p:ph type="title"/>
          </p:nvPr>
        </p:nvSpPr>
        <p:spPr>
          <a:xfrm>
            <a:off x="457200" y="64292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 dirty="0" smtClean="0"/>
              <a:t>Kliknite, če želite urediti slog naslova matrice</a:t>
            </a:r>
            <a:endParaRPr lang="sl-SI" dirty="0"/>
          </a:p>
        </p:txBody>
      </p:sp>
      <p:sp>
        <p:nvSpPr>
          <p:cNvPr id="3" name="Ograda besedila 2"/>
          <p:cNvSpPr>
            <a:spLocks noGrp="1"/>
          </p:cNvSpPr>
          <p:nvPr>
            <p:ph type="body" idx="1"/>
          </p:nvPr>
        </p:nvSpPr>
        <p:spPr>
          <a:xfrm>
            <a:off x="457200" y="1903433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 dirty="0" smtClean="0"/>
              <a:t>Kliknite, če želite urediti sloge besedila matrice</a:t>
            </a:r>
          </a:p>
          <a:p>
            <a:pPr lvl="1"/>
            <a:r>
              <a:rPr lang="sl-SI" dirty="0" smtClean="0"/>
              <a:t>Druga raven</a:t>
            </a:r>
          </a:p>
          <a:p>
            <a:pPr lvl="2"/>
            <a:r>
              <a:rPr lang="sl-SI" dirty="0" smtClean="0"/>
              <a:t>Tretja raven</a:t>
            </a:r>
          </a:p>
          <a:p>
            <a:pPr lvl="3"/>
            <a:r>
              <a:rPr lang="sl-SI" dirty="0" smtClean="0"/>
              <a:t>Četrta raven</a:t>
            </a:r>
          </a:p>
          <a:p>
            <a:pPr lvl="4"/>
            <a:r>
              <a:rPr lang="sl-SI" dirty="0" smtClean="0"/>
              <a:t>Peta raven</a:t>
            </a:r>
            <a:endParaRPr lang="sl-SI" dirty="0"/>
          </a:p>
        </p:txBody>
      </p:sp>
      <p:sp>
        <p:nvSpPr>
          <p:cNvPr id="6" name="Ograda številke diapozitiva 5"/>
          <p:cNvSpPr>
            <a:spLocks noGrp="1"/>
          </p:cNvSpPr>
          <p:nvPr>
            <p:ph type="sldNum" sz="quarter" idx="4"/>
          </p:nvPr>
        </p:nvSpPr>
        <p:spPr>
          <a:xfrm>
            <a:off x="6867556" y="6572272"/>
            <a:ext cx="2133600" cy="285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25B5F-0E27-49EB-8952-94DBB9B789D6}" type="slidenum">
              <a:rPr lang="sl-SI" smtClean="0"/>
              <a:pPr/>
              <a:t>‹#›</a:t>
            </a:fld>
            <a:endParaRPr lang="sl-SI"/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 flipH="1">
            <a:off x="2514600" y="228600"/>
            <a:ext cx="838200" cy="115888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6C6C6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l-SI"/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0" y="228600"/>
            <a:ext cx="838200" cy="115888"/>
          </a:xfrm>
          <a:prstGeom prst="rect">
            <a:avLst/>
          </a:prstGeom>
          <a:gradFill rotWithShape="0">
            <a:gsLst>
              <a:gs pos="0">
                <a:srgbClr val="C6C6C6"/>
              </a:gs>
              <a:gs pos="100000">
                <a:srgbClr val="FFFFFF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l-SI"/>
          </a:p>
        </p:txBody>
      </p:sp>
      <p:pic>
        <p:nvPicPr>
          <p:cNvPr id="9" name="Picture 7" descr="ISKRAEMECO_logo.eps"/>
          <p:cNvPicPr>
            <a:picLocks noChangeAspect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620000" y="152400"/>
            <a:ext cx="1371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16"/>
          <p:cNvSpPr>
            <a:spLocks noChangeArrowheads="1"/>
          </p:cNvSpPr>
          <p:nvPr/>
        </p:nvSpPr>
        <p:spPr bwMode="auto">
          <a:xfrm>
            <a:off x="862406" y="152400"/>
            <a:ext cx="156645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  <a:latin typeface="Arial Narrow" pitchFamily="34" charset="0"/>
                <a:ea typeface="ＭＳ Ｐゴシック" pitchFamily="1" charset="-128"/>
              </a:rPr>
              <a:t>Metering is our Business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Arial Narrow" pitchFamily="34" charset="0"/>
              <a:ea typeface="ＭＳ Ｐゴシック" pitchFamily="1" charset="-128"/>
            </a:endParaRP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3276600" y="228600"/>
            <a:ext cx="4267200" cy="115888"/>
          </a:xfrm>
          <a:prstGeom prst="rect">
            <a:avLst/>
          </a:prstGeom>
          <a:solidFill>
            <a:srgbClr val="C6C6C6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l-SI" dirty="0"/>
          </a:p>
        </p:txBody>
      </p:sp>
      <p:cxnSp>
        <p:nvCxnSpPr>
          <p:cNvPr id="12" name="AutoShape 11"/>
          <p:cNvCxnSpPr>
            <a:cxnSpLocks noChangeShapeType="1"/>
          </p:cNvCxnSpPr>
          <p:nvPr/>
        </p:nvCxnSpPr>
        <p:spPr bwMode="auto">
          <a:xfrm>
            <a:off x="0" y="6572272"/>
            <a:ext cx="9140825" cy="0"/>
          </a:xfrm>
          <a:prstGeom prst="straightConnector1">
            <a:avLst/>
          </a:prstGeom>
          <a:noFill/>
          <a:ln w="19050">
            <a:solidFill>
              <a:srgbClr val="ABABAB"/>
            </a:solidFill>
            <a:round/>
            <a:headEnd/>
            <a:tailEnd/>
          </a:ln>
          <a:effectLst/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0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grada številke diapoz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5B5F-0E27-49EB-8952-94DBB9B789D6}" type="slidenum">
              <a:rPr lang="sl-SI" smtClean="0"/>
              <a:pPr/>
              <a:t>1</a:t>
            </a:fld>
            <a:endParaRPr lang="sl-SI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 l="42361" r="9027"/>
          <a:stretch>
            <a:fillRect/>
          </a:stretch>
        </p:blipFill>
        <p:spPr bwMode="auto">
          <a:xfrm>
            <a:off x="4143372" y="0"/>
            <a:ext cx="5286412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 cstate="print"/>
          <a:srcRect r="54927"/>
          <a:stretch>
            <a:fillRect/>
          </a:stretch>
        </p:blipFill>
        <p:spPr bwMode="auto">
          <a:xfrm>
            <a:off x="357158" y="1360764"/>
            <a:ext cx="2714644" cy="1132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PoljeZBesedilom 5"/>
          <p:cNvSpPr txBox="1"/>
          <p:nvPr/>
        </p:nvSpPr>
        <p:spPr>
          <a:xfrm>
            <a:off x="285720" y="2920876"/>
            <a:ext cx="378222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 algn="ctr"/>
            <a:r>
              <a:rPr lang="bs-Latn-BA" sz="2000" b="1" dirty="0" smtClean="0">
                <a:latin typeface="Comic Sans MS" panose="030F0702030302020204" pitchFamily="66" charset="0"/>
              </a:rPr>
              <a:t>MT880-</a:t>
            </a:r>
            <a:r>
              <a:rPr lang="en-US" altLang="en-US" sz="2000" b="1" dirty="0" smtClean="0">
                <a:latin typeface="Comic Sans MS" panose="030F0702030302020204" pitchFamily="66" charset="0"/>
              </a:rPr>
              <a:t>Meter, that meets</a:t>
            </a:r>
            <a:r>
              <a:rPr lang="sl-SI" altLang="en-US" sz="2000" b="1" dirty="0" smtClean="0">
                <a:latin typeface="Comic Sans MS" panose="030F0702030302020204" pitchFamily="66" charset="0"/>
              </a:rPr>
              <a:t> </a:t>
            </a:r>
            <a:r>
              <a:rPr lang="en-US" altLang="en-US" sz="2000" b="1" dirty="0" smtClean="0">
                <a:latin typeface="Comic Sans MS" panose="030F0702030302020204" pitchFamily="66" charset="0"/>
              </a:rPr>
              <a:t>your needs through high</a:t>
            </a:r>
            <a:r>
              <a:rPr lang="sl-SI" altLang="en-US" sz="2000" b="1" dirty="0" smtClean="0">
                <a:latin typeface="Comic Sans MS" panose="030F0702030302020204" pitchFamily="66" charset="0"/>
              </a:rPr>
              <a:t> </a:t>
            </a:r>
            <a:r>
              <a:rPr lang="en-US" altLang="en-US" sz="2000" b="1" dirty="0" smtClean="0">
                <a:latin typeface="Comic Sans MS" panose="030F0702030302020204" pitchFamily="66" charset="0"/>
              </a:rPr>
              <a:t>functionality and communication flexibility </a:t>
            </a:r>
          </a:p>
          <a:p>
            <a:pPr algn="just"/>
            <a:endParaRPr lang="bs-Latn-BA" sz="2400" b="1" dirty="0" smtClean="0">
              <a:latin typeface="Arial Narrow" pitchFamily="34" charset="0"/>
            </a:endParaRPr>
          </a:p>
          <a:p>
            <a:pPr algn="just"/>
            <a:endParaRPr lang="bs-Latn-BA" sz="2400" b="1" dirty="0" smtClean="0">
              <a:latin typeface="Arial Narrow" pitchFamily="34" charset="0"/>
            </a:endParaRPr>
          </a:p>
        </p:txBody>
      </p:sp>
      <p:sp>
        <p:nvSpPr>
          <p:cNvPr id="9" name="PoljeZBesedilom 14"/>
          <p:cNvSpPr txBox="1"/>
          <p:nvPr/>
        </p:nvSpPr>
        <p:spPr>
          <a:xfrm>
            <a:off x="251520" y="612557"/>
            <a:ext cx="468052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Viner Hand ITC" pitchFamily="66" charset="0"/>
              </a:rPr>
              <a:t>Look into the future</a:t>
            </a:r>
            <a:r>
              <a:rPr lang="sl-SI" sz="2800" dirty="0" smtClean="0">
                <a:latin typeface="Viner Hand ITC" pitchFamily="66" charset="0"/>
              </a:rPr>
              <a:t> ….</a:t>
            </a:r>
            <a:endParaRPr lang="en-US" sz="2800" dirty="0" smtClean="0">
              <a:latin typeface="Viner Hand ITC" pitchFamily="66" charset="0"/>
            </a:endParaRPr>
          </a:p>
          <a:p>
            <a:endParaRPr lang="sl-SI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427984" y="4221088"/>
            <a:ext cx="572412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</a:rPr>
              <a:t>Waleed </a:t>
            </a:r>
            <a:r>
              <a:rPr lang="en-US" sz="2400" dirty="0" err="1" smtClean="0">
                <a:solidFill>
                  <a:schemeClr val="bg1"/>
                </a:solidFill>
              </a:rPr>
              <a:t>Abd</a:t>
            </a:r>
            <a:r>
              <a:rPr lang="en-US" sz="2400" dirty="0" smtClean="0">
                <a:solidFill>
                  <a:schemeClr val="bg1"/>
                </a:solidFill>
              </a:rPr>
              <a:t> El-Hameed, </a:t>
            </a:r>
            <a:r>
              <a:rPr lang="en-US" sz="2400" dirty="0" err="1" smtClean="0">
                <a:solidFill>
                  <a:schemeClr val="bg1"/>
                </a:solidFill>
              </a:rPr>
              <a:t>MScEE</a:t>
            </a:r>
            <a:endParaRPr lang="en-US" sz="2400" dirty="0" smtClean="0">
              <a:solidFill>
                <a:schemeClr val="bg1"/>
              </a:solidFill>
            </a:endParaRPr>
          </a:p>
          <a:p>
            <a:r>
              <a:rPr lang="en-US" sz="2400" dirty="0" smtClean="0">
                <a:solidFill>
                  <a:schemeClr val="bg1"/>
                </a:solidFill>
              </a:rPr>
              <a:t>Product Technical Support manager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Waleed.hammed@iskraemeco.com.eg</a:t>
            </a:r>
            <a:endParaRPr lang="en-GB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43808" y="1124744"/>
            <a:ext cx="3116260" cy="5256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251520" y="620688"/>
            <a:ext cx="6768752" cy="648072"/>
          </a:xfrm>
        </p:spPr>
        <p:txBody>
          <a:bodyPr>
            <a:noAutofit/>
          </a:bodyPr>
          <a:lstStyle/>
          <a:p>
            <a:pPr marL="342900" lvl="1" indent="-342900" algn="l"/>
            <a:r>
              <a:rPr lang="en-US" altLang="en-US" sz="3200" b="1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Meter parts</a:t>
            </a:r>
            <a:r>
              <a:rPr lang="sl-SI" altLang="en-US" sz="3200" b="1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 #1</a:t>
            </a:r>
            <a:endParaRPr lang="en-US" altLang="en-US" sz="32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Ograda številke diapoz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5B5F-0E27-49EB-8952-94DBB9B789D6}" type="slidenum">
              <a:rPr lang="sl-SI" smtClean="0">
                <a:latin typeface="Comic Sans MS" panose="030F0702030302020204" pitchFamily="66" charset="0"/>
              </a:rPr>
              <a:pPr/>
              <a:t>2</a:t>
            </a:fld>
            <a:endParaRPr lang="sl-SI" dirty="0">
              <a:latin typeface="Comic Sans MS" panose="030F0702030302020204" pitchFamily="66" charset="0"/>
            </a:endParaRPr>
          </a:p>
        </p:txBody>
      </p:sp>
      <p:sp>
        <p:nvSpPr>
          <p:cNvPr id="10" name="PoljeZBesedilom 9"/>
          <p:cNvSpPr txBox="1"/>
          <p:nvPr/>
        </p:nvSpPr>
        <p:spPr>
          <a:xfrm>
            <a:off x="6588224" y="1340768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mic Sans MS" panose="030F0702030302020204" pitchFamily="66" charset="0"/>
              </a:rPr>
              <a:t>Up / down scroll button</a:t>
            </a:r>
            <a:endParaRPr lang="en-US" dirty="0">
              <a:latin typeface="Comic Sans MS" panose="030F0702030302020204" pitchFamily="66" charset="0"/>
            </a:endParaRPr>
          </a:p>
        </p:txBody>
      </p:sp>
      <p:cxnSp>
        <p:nvCxnSpPr>
          <p:cNvPr id="13" name="Raven konektor 12"/>
          <p:cNvCxnSpPr/>
          <p:nvPr/>
        </p:nvCxnSpPr>
        <p:spPr>
          <a:xfrm flipH="1">
            <a:off x="5508104" y="1556792"/>
            <a:ext cx="1152128" cy="36874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oljeZBesedilom 21"/>
          <p:cNvSpPr txBox="1"/>
          <p:nvPr/>
        </p:nvSpPr>
        <p:spPr>
          <a:xfrm>
            <a:off x="6300192" y="2348880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mic Sans MS" panose="030F0702030302020204" pitchFamily="66" charset="0"/>
              </a:rPr>
              <a:t>Two LEDs Active &amp; Reactive</a:t>
            </a:r>
            <a:endParaRPr lang="en-US" dirty="0">
              <a:latin typeface="Comic Sans MS" panose="030F0702030302020204" pitchFamily="66" charset="0"/>
            </a:endParaRPr>
          </a:p>
        </p:txBody>
      </p:sp>
      <p:cxnSp>
        <p:nvCxnSpPr>
          <p:cNvPr id="23" name="Raven konektor 22"/>
          <p:cNvCxnSpPr/>
          <p:nvPr/>
        </p:nvCxnSpPr>
        <p:spPr>
          <a:xfrm flipH="1">
            <a:off x="5436096" y="2564904"/>
            <a:ext cx="864096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PoljeZBesedilom 30"/>
          <p:cNvSpPr txBox="1"/>
          <p:nvPr/>
        </p:nvSpPr>
        <p:spPr>
          <a:xfrm>
            <a:off x="6372200" y="3140968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mic Sans MS" panose="030F0702030302020204" pitchFamily="66" charset="0"/>
              </a:rPr>
              <a:t>Communication module</a:t>
            </a:r>
            <a:endParaRPr lang="en-US" dirty="0">
              <a:latin typeface="Comic Sans MS" panose="030F0702030302020204" pitchFamily="66" charset="0"/>
            </a:endParaRPr>
          </a:p>
        </p:txBody>
      </p:sp>
      <p:cxnSp>
        <p:nvCxnSpPr>
          <p:cNvPr id="32" name="Raven konektor 31"/>
          <p:cNvCxnSpPr/>
          <p:nvPr/>
        </p:nvCxnSpPr>
        <p:spPr>
          <a:xfrm flipH="1">
            <a:off x="5292080" y="3347700"/>
            <a:ext cx="1152128" cy="36874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PoljeZBesedilom 32"/>
          <p:cNvSpPr txBox="1"/>
          <p:nvPr/>
        </p:nvSpPr>
        <p:spPr>
          <a:xfrm>
            <a:off x="6444208" y="5474840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 smtClean="0">
                <a:latin typeface="Comic Sans MS" panose="030F0702030302020204" pitchFamily="66" charset="0"/>
              </a:rPr>
              <a:t>Terminal </a:t>
            </a:r>
            <a:r>
              <a:rPr lang="en-US" dirty="0" smtClean="0">
                <a:latin typeface="Comic Sans MS" panose="030F0702030302020204" pitchFamily="66" charset="0"/>
              </a:rPr>
              <a:t>cover</a:t>
            </a:r>
            <a:endParaRPr lang="en-US" dirty="0">
              <a:latin typeface="Comic Sans MS" panose="030F0702030302020204" pitchFamily="66" charset="0"/>
            </a:endParaRPr>
          </a:p>
        </p:txBody>
      </p:sp>
      <p:cxnSp>
        <p:nvCxnSpPr>
          <p:cNvPr id="34" name="Raven konektor 33"/>
          <p:cNvCxnSpPr>
            <a:stCxn id="33" idx="1"/>
          </p:cNvCxnSpPr>
          <p:nvPr/>
        </p:nvCxnSpPr>
        <p:spPr>
          <a:xfrm flipH="1" flipV="1">
            <a:off x="5364088" y="5626114"/>
            <a:ext cx="1080120" cy="33392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PoljeZBesedilom 34"/>
          <p:cNvSpPr txBox="1"/>
          <p:nvPr/>
        </p:nvSpPr>
        <p:spPr>
          <a:xfrm>
            <a:off x="179512" y="1628800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mic Sans MS" panose="030F0702030302020204" pitchFamily="66" charset="0"/>
              </a:rPr>
              <a:t>Meter SN.</a:t>
            </a:r>
            <a:endParaRPr lang="en-US" dirty="0">
              <a:latin typeface="Comic Sans MS" panose="030F0702030302020204" pitchFamily="66" charset="0"/>
            </a:endParaRPr>
          </a:p>
        </p:txBody>
      </p:sp>
      <p:cxnSp>
        <p:nvCxnSpPr>
          <p:cNvPr id="36" name="Raven konektor 35"/>
          <p:cNvCxnSpPr/>
          <p:nvPr/>
        </p:nvCxnSpPr>
        <p:spPr>
          <a:xfrm flipH="1" flipV="1">
            <a:off x="1510950" y="1890120"/>
            <a:ext cx="1512168" cy="31358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PoljeZBesedilom 39"/>
          <p:cNvSpPr txBox="1"/>
          <p:nvPr/>
        </p:nvSpPr>
        <p:spPr>
          <a:xfrm>
            <a:off x="1043608" y="1268760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 smtClean="0">
                <a:latin typeface="Comic Sans MS" panose="030F0702030302020204" pitchFamily="66" charset="0"/>
              </a:rPr>
              <a:t>LCD</a:t>
            </a:r>
            <a:endParaRPr lang="en-US" dirty="0">
              <a:latin typeface="Comic Sans MS" panose="030F0702030302020204" pitchFamily="66" charset="0"/>
            </a:endParaRPr>
          </a:p>
        </p:txBody>
      </p:sp>
      <p:cxnSp>
        <p:nvCxnSpPr>
          <p:cNvPr id="41" name="Raven konektor 40"/>
          <p:cNvCxnSpPr/>
          <p:nvPr/>
        </p:nvCxnSpPr>
        <p:spPr>
          <a:xfrm flipH="1">
            <a:off x="2195736" y="1484784"/>
            <a:ext cx="1872208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PoljeZBesedilom 41"/>
          <p:cNvSpPr txBox="1"/>
          <p:nvPr/>
        </p:nvSpPr>
        <p:spPr>
          <a:xfrm>
            <a:off x="179512" y="2204864"/>
            <a:ext cx="2808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mic Sans MS" panose="030F0702030302020204" pitchFamily="66" charset="0"/>
              </a:rPr>
              <a:t>IR optical interface   (no power reading)</a:t>
            </a:r>
            <a:endParaRPr lang="en-US" dirty="0">
              <a:latin typeface="Comic Sans MS" panose="030F0702030302020204" pitchFamily="66" charset="0"/>
            </a:endParaRPr>
          </a:p>
        </p:txBody>
      </p:sp>
      <p:cxnSp>
        <p:nvCxnSpPr>
          <p:cNvPr id="43" name="Raven konektor 42"/>
          <p:cNvCxnSpPr/>
          <p:nvPr/>
        </p:nvCxnSpPr>
        <p:spPr>
          <a:xfrm flipH="1">
            <a:off x="2771800" y="2420888"/>
            <a:ext cx="576064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PoljeZBesedilom 45"/>
          <p:cNvSpPr txBox="1"/>
          <p:nvPr/>
        </p:nvSpPr>
        <p:spPr>
          <a:xfrm>
            <a:off x="251520" y="2996952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mic Sans MS" panose="030F0702030302020204" pitchFamily="66" charset="0"/>
              </a:rPr>
              <a:t>Billing reset button / CT &amp; VT label</a:t>
            </a:r>
            <a:endParaRPr lang="en-US" dirty="0">
              <a:latin typeface="Comic Sans MS" panose="030F0702030302020204" pitchFamily="66" charset="0"/>
            </a:endParaRPr>
          </a:p>
        </p:txBody>
      </p:sp>
      <p:cxnSp>
        <p:nvCxnSpPr>
          <p:cNvPr id="47" name="Raven konektor 46"/>
          <p:cNvCxnSpPr/>
          <p:nvPr/>
        </p:nvCxnSpPr>
        <p:spPr>
          <a:xfrm flipH="1">
            <a:off x="2276444" y="3068960"/>
            <a:ext cx="927404" cy="27874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PoljeZBesedilom 48"/>
          <p:cNvSpPr txBox="1"/>
          <p:nvPr/>
        </p:nvSpPr>
        <p:spPr>
          <a:xfrm>
            <a:off x="6372200" y="3789040"/>
            <a:ext cx="252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mic Sans MS" panose="030F0702030302020204" pitchFamily="66" charset="0"/>
              </a:rPr>
              <a:t>Sealing meter cover screw</a:t>
            </a:r>
            <a:endParaRPr lang="en-US" dirty="0">
              <a:latin typeface="Comic Sans MS" panose="030F0702030302020204" pitchFamily="66" charset="0"/>
            </a:endParaRPr>
          </a:p>
        </p:txBody>
      </p:sp>
      <p:cxnSp>
        <p:nvCxnSpPr>
          <p:cNvPr id="50" name="Raven konektor 49"/>
          <p:cNvCxnSpPr/>
          <p:nvPr/>
        </p:nvCxnSpPr>
        <p:spPr>
          <a:xfrm flipH="1">
            <a:off x="5868144" y="4005064"/>
            <a:ext cx="504056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PoljeZBesedilom 52"/>
          <p:cNvSpPr txBox="1"/>
          <p:nvPr/>
        </p:nvSpPr>
        <p:spPr>
          <a:xfrm>
            <a:off x="6228184" y="4867418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 smtClean="0">
                <a:latin typeface="Comic Sans MS" panose="030F0702030302020204" pitchFamily="66" charset="0"/>
              </a:rPr>
              <a:t>terminal </a:t>
            </a:r>
            <a:r>
              <a:rPr lang="en-US" dirty="0" smtClean="0">
                <a:latin typeface="Comic Sans MS" panose="030F0702030302020204" pitchFamily="66" charset="0"/>
              </a:rPr>
              <a:t>cover screw</a:t>
            </a:r>
            <a:endParaRPr lang="en-US" dirty="0">
              <a:latin typeface="Comic Sans MS" panose="030F0702030302020204" pitchFamily="66" charset="0"/>
            </a:endParaRPr>
          </a:p>
        </p:txBody>
      </p:sp>
      <p:cxnSp>
        <p:nvCxnSpPr>
          <p:cNvPr id="54" name="Raven konektor 53"/>
          <p:cNvCxnSpPr/>
          <p:nvPr/>
        </p:nvCxnSpPr>
        <p:spPr>
          <a:xfrm flipH="1">
            <a:off x="5652120" y="5157192"/>
            <a:ext cx="504056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25" y="4017622"/>
            <a:ext cx="1740650" cy="1827844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 flipV="1">
            <a:off x="1043608" y="5659506"/>
            <a:ext cx="396044" cy="50579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PoljeZBesedilom 45"/>
          <p:cNvSpPr txBox="1"/>
          <p:nvPr/>
        </p:nvSpPr>
        <p:spPr>
          <a:xfrm>
            <a:off x="278191" y="5823726"/>
            <a:ext cx="1089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mic Sans MS" panose="030F0702030302020204" pitchFamily="66" charset="0"/>
              </a:rPr>
              <a:t>Meter Antenna</a:t>
            </a:r>
            <a:endParaRPr 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1280458"/>
            <a:ext cx="4320480" cy="4452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251520" y="620688"/>
            <a:ext cx="6768752" cy="648072"/>
          </a:xfrm>
        </p:spPr>
        <p:txBody>
          <a:bodyPr>
            <a:noAutofit/>
          </a:bodyPr>
          <a:lstStyle/>
          <a:p>
            <a:pPr marL="342900" lvl="1" indent="-342900" algn="l"/>
            <a:r>
              <a:rPr lang="en-US" altLang="en-US" sz="3200" b="1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Meter parts</a:t>
            </a:r>
            <a:r>
              <a:rPr lang="sl-SI" altLang="en-US" sz="3200" b="1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 #2</a:t>
            </a:r>
            <a:endParaRPr lang="en-US" altLang="en-US" sz="32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Ograda številke diapoz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5B5F-0E27-49EB-8952-94DBB9B789D6}" type="slidenum">
              <a:rPr lang="sl-SI" smtClean="0">
                <a:latin typeface="Comic Sans MS" panose="030F0702030302020204" pitchFamily="66" charset="0"/>
              </a:rPr>
              <a:pPr/>
              <a:t>3</a:t>
            </a:fld>
            <a:endParaRPr lang="sl-SI" dirty="0">
              <a:latin typeface="Comic Sans MS" panose="030F0702030302020204" pitchFamily="66" charset="0"/>
            </a:endParaRPr>
          </a:p>
        </p:txBody>
      </p:sp>
      <p:sp>
        <p:nvSpPr>
          <p:cNvPr id="33" name="PoljeZBesedilom 32"/>
          <p:cNvSpPr txBox="1"/>
          <p:nvPr/>
        </p:nvSpPr>
        <p:spPr>
          <a:xfrm>
            <a:off x="6300192" y="5805264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mic Sans MS" panose="030F0702030302020204" pitchFamily="66" charset="0"/>
              </a:rPr>
              <a:t>Meter terminals</a:t>
            </a:r>
            <a:endParaRPr lang="en-US" dirty="0">
              <a:latin typeface="Comic Sans MS" panose="030F0702030302020204" pitchFamily="66" charset="0"/>
            </a:endParaRPr>
          </a:p>
        </p:txBody>
      </p:sp>
      <p:cxnSp>
        <p:nvCxnSpPr>
          <p:cNvPr id="34" name="Raven konektor 33"/>
          <p:cNvCxnSpPr>
            <a:stCxn id="33" idx="1"/>
          </p:cNvCxnSpPr>
          <p:nvPr/>
        </p:nvCxnSpPr>
        <p:spPr>
          <a:xfrm flipH="1" flipV="1">
            <a:off x="3995936" y="5482098"/>
            <a:ext cx="2304256" cy="507832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PoljeZBesedilom 48"/>
          <p:cNvSpPr txBox="1"/>
          <p:nvPr/>
        </p:nvSpPr>
        <p:spPr>
          <a:xfrm>
            <a:off x="6372200" y="3212976"/>
            <a:ext cx="2520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mic Sans MS" panose="030F0702030302020204" pitchFamily="66" charset="0"/>
              </a:rPr>
              <a:t>Mechanism for CM module install / de</a:t>
            </a:r>
            <a:r>
              <a:rPr lang="sl-SI" dirty="0" smtClean="0">
                <a:latin typeface="Comic Sans MS" panose="030F0702030302020204" pitchFamily="66" charset="0"/>
              </a:rPr>
              <a:t>-</a:t>
            </a:r>
            <a:r>
              <a:rPr lang="en-US" dirty="0" smtClean="0">
                <a:latin typeface="Comic Sans MS" panose="030F0702030302020204" pitchFamily="66" charset="0"/>
              </a:rPr>
              <a:t>install</a:t>
            </a:r>
            <a:endParaRPr lang="en-US" dirty="0">
              <a:latin typeface="Comic Sans MS" panose="030F0702030302020204" pitchFamily="66" charset="0"/>
            </a:endParaRPr>
          </a:p>
        </p:txBody>
      </p:sp>
      <p:cxnSp>
        <p:nvCxnSpPr>
          <p:cNvPr id="50" name="Raven konektor 49"/>
          <p:cNvCxnSpPr>
            <a:stCxn id="49" idx="1"/>
          </p:cNvCxnSpPr>
          <p:nvPr/>
        </p:nvCxnSpPr>
        <p:spPr>
          <a:xfrm flipH="1">
            <a:off x="5436096" y="3674641"/>
            <a:ext cx="936104" cy="330423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PoljeZBesedilom 52"/>
          <p:cNvSpPr txBox="1"/>
          <p:nvPr/>
        </p:nvSpPr>
        <p:spPr>
          <a:xfrm>
            <a:off x="6407696" y="4509120"/>
            <a:ext cx="27363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mic Sans MS" panose="030F0702030302020204" pitchFamily="66" charset="0"/>
              </a:rPr>
              <a:t>Additional terminals (external supply, communication interface)</a:t>
            </a:r>
            <a:endParaRPr lang="en-US" dirty="0">
              <a:latin typeface="Comic Sans MS" panose="030F0702030302020204" pitchFamily="66" charset="0"/>
            </a:endParaRPr>
          </a:p>
        </p:txBody>
      </p:sp>
      <p:cxnSp>
        <p:nvCxnSpPr>
          <p:cNvPr id="54" name="Raven konektor 53"/>
          <p:cNvCxnSpPr/>
          <p:nvPr/>
        </p:nvCxnSpPr>
        <p:spPr>
          <a:xfrm flipH="1">
            <a:off x="5652120" y="5013176"/>
            <a:ext cx="504056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PoljeZBesedilom 51"/>
          <p:cNvSpPr txBox="1"/>
          <p:nvPr/>
        </p:nvSpPr>
        <p:spPr>
          <a:xfrm>
            <a:off x="179512" y="3790781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mic Sans MS" panose="030F0702030302020204" pitchFamily="66" charset="0"/>
              </a:rPr>
              <a:t>Inputs / outputs part </a:t>
            </a:r>
            <a:endParaRPr lang="en-US" dirty="0">
              <a:latin typeface="Comic Sans MS" panose="030F0702030302020204" pitchFamily="66" charset="0"/>
            </a:endParaRPr>
          </a:p>
        </p:txBody>
      </p:sp>
      <p:cxnSp>
        <p:nvCxnSpPr>
          <p:cNvPr id="55" name="Raven konektor 54"/>
          <p:cNvCxnSpPr/>
          <p:nvPr/>
        </p:nvCxnSpPr>
        <p:spPr>
          <a:xfrm flipH="1">
            <a:off x="1763688" y="3645024"/>
            <a:ext cx="1440160" cy="217765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PoljeZBesedilom 56"/>
          <p:cNvSpPr txBox="1"/>
          <p:nvPr/>
        </p:nvSpPr>
        <p:spPr>
          <a:xfrm>
            <a:off x="25030" y="4940105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mic Sans MS" panose="030F0702030302020204" pitchFamily="66" charset="0"/>
              </a:rPr>
              <a:t>Additional voltage terminals</a:t>
            </a:r>
            <a:endParaRPr lang="en-US" dirty="0">
              <a:latin typeface="Comic Sans MS" panose="030F0702030302020204" pitchFamily="66" charset="0"/>
            </a:endParaRPr>
          </a:p>
        </p:txBody>
      </p:sp>
      <p:cxnSp>
        <p:nvCxnSpPr>
          <p:cNvPr id="58" name="Raven konektor 57"/>
          <p:cNvCxnSpPr/>
          <p:nvPr/>
        </p:nvCxnSpPr>
        <p:spPr>
          <a:xfrm flipH="1">
            <a:off x="1916088" y="4509120"/>
            <a:ext cx="1215752" cy="505797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oljeZBesedilom 15"/>
          <p:cNvSpPr txBox="1"/>
          <p:nvPr/>
        </p:nvSpPr>
        <p:spPr>
          <a:xfrm>
            <a:off x="6458759" y="2358175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mic Sans MS" panose="030F0702030302020204" pitchFamily="66" charset="0"/>
              </a:rPr>
              <a:t>Antenna connector</a:t>
            </a:r>
            <a:endParaRPr lang="en-US" dirty="0">
              <a:latin typeface="Comic Sans MS" panose="030F0702030302020204" pitchFamily="66" charset="0"/>
            </a:endParaRPr>
          </a:p>
        </p:txBody>
      </p:sp>
      <p:cxnSp>
        <p:nvCxnSpPr>
          <p:cNvPr id="17" name="Raven konektor 16"/>
          <p:cNvCxnSpPr>
            <a:stCxn id="16" idx="1"/>
          </p:cNvCxnSpPr>
          <p:nvPr/>
        </p:nvCxnSpPr>
        <p:spPr>
          <a:xfrm flipH="1">
            <a:off x="4716016" y="2542841"/>
            <a:ext cx="1742743" cy="1098222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oljeZBesedilom 21"/>
          <p:cNvSpPr txBox="1"/>
          <p:nvPr/>
        </p:nvSpPr>
        <p:spPr>
          <a:xfrm>
            <a:off x="6380584" y="764704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mic Sans MS" panose="030F0702030302020204" pitchFamily="66" charset="0"/>
              </a:rPr>
              <a:t>Modem &amp; communication status</a:t>
            </a:r>
            <a:endParaRPr lang="en-US" dirty="0">
              <a:latin typeface="Comic Sans MS" panose="030F0702030302020204" pitchFamily="66" charset="0"/>
            </a:endParaRPr>
          </a:p>
        </p:txBody>
      </p:sp>
      <p:cxnSp>
        <p:nvCxnSpPr>
          <p:cNvPr id="23" name="Raven konektor 22"/>
          <p:cNvCxnSpPr>
            <a:stCxn id="22" idx="1"/>
          </p:cNvCxnSpPr>
          <p:nvPr/>
        </p:nvCxnSpPr>
        <p:spPr>
          <a:xfrm flipH="1">
            <a:off x="4716016" y="1226369"/>
            <a:ext cx="1664568" cy="1266527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Raven konektor 23"/>
          <p:cNvCxnSpPr/>
          <p:nvPr/>
        </p:nvCxnSpPr>
        <p:spPr>
          <a:xfrm>
            <a:off x="1979712" y="2492896"/>
            <a:ext cx="2160240" cy="86032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oljeZBesedilom 25"/>
          <p:cNvSpPr txBox="1"/>
          <p:nvPr/>
        </p:nvSpPr>
        <p:spPr>
          <a:xfrm>
            <a:off x="179512" y="1772816"/>
            <a:ext cx="1944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mic Sans MS" panose="030F0702030302020204" pitchFamily="66" charset="0"/>
              </a:rPr>
              <a:t>Terminal cover opening sensor</a:t>
            </a:r>
            <a:endParaRPr 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42926"/>
            <a:ext cx="8229600" cy="913866"/>
          </a:xfrm>
        </p:spPr>
        <p:txBody>
          <a:bodyPr/>
          <a:lstStyle/>
          <a:p>
            <a:r>
              <a:rPr lang="en-US" dirty="0" smtClean="0">
                <a:latin typeface="Comic Sans MS" panose="030F0702030302020204" pitchFamily="66" charset="0"/>
              </a:rPr>
              <a:t>Wiring Diagram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5B5F-0E27-49EB-8952-94DBB9B789D6}" type="slidenum">
              <a:rPr lang="sl-SI" smtClean="0">
                <a:latin typeface="Comic Sans MS" panose="030F0702030302020204" pitchFamily="66" charset="0"/>
              </a:rPr>
              <a:pPr/>
              <a:t>4</a:t>
            </a:fld>
            <a:endParaRPr lang="sl-SI">
              <a:latin typeface="Comic Sans MS" panose="030F0702030302020204" pitchFamily="66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851525"/>
              </p:ext>
            </p:extLst>
          </p:nvPr>
        </p:nvGraphicFramePr>
        <p:xfrm>
          <a:off x="2267744" y="4365104"/>
          <a:ext cx="3456384" cy="198471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5698">
                  <a:extLst>
                    <a:ext uri="{9D8B030D-6E8A-4147-A177-3AD203B41FA5}">
                      <a16:colId xmlns:a16="http://schemas.microsoft.com/office/drawing/2014/main" xmlns="" val="2320411553"/>
                    </a:ext>
                  </a:extLst>
                </a:gridCol>
                <a:gridCol w="951538">
                  <a:extLst>
                    <a:ext uri="{9D8B030D-6E8A-4147-A177-3AD203B41FA5}">
                      <a16:colId xmlns:a16="http://schemas.microsoft.com/office/drawing/2014/main" xmlns="" val="3782739166"/>
                    </a:ext>
                  </a:extLst>
                </a:gridCol>
                <a:gridCol w="909574">
                  <a:extLst>
                    <a:ext uri="{9D8B030D-6E8A-4147-A177-3AD203B41FA5}">
                      <a16:colId xmlns:a16="http://schemas.microsoft.com/office/drawing/2014/main" xmlns="" val="3097756424"/>
                    </a:ext>
                  </a:extLst>
                </a:gridCol>
                <a:gridCol w="909574">
                  <a:extLst>
                    <a:ext uri="{9D8B030D-6E8A-4147-A177-3AD203B41FA5}">
                      <a16:colId xmlns:a16="http://schemas.microsoft.com/office/drawing/2014/main" xmlns="" val="1508458333"/>
                    </a:ext>
                  </a:extLst>
                </a:gridCol>
              </a:tblGrid>
              <a:tr h="330674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dirty="0">
                          <a:effectLst/>
                        </a:rPr>
                        <a:t>Phase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dirty="0">
                          <a:effectLst/>
                        </a:rPr>
                        <a:t>Terminals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02379064"/>
                  </a:ext>
                </a:extLst>
              </a:tr>
              <a:tr h="33080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Current input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Current output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Voltage input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877675323"/>
                  </a:ext>
                </a:extLst>
              </a:tr>
              <a:tr h="3308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L1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850980348"/>
                  </a:ext>
                </a:extLst>
              </a:tr>
              <a:tr h="3308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dirty="0">
                          <a:effectLst/>
                        </a:rPr>
                        <a:t>L2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891048684"/>
                  </a:ext>
                </a:extLst>
              </a:tr>
              <a:tr h="3308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L3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584691736"/>
                  </a:ext>
                </a:extLst>
              </a:tr>
              <a:tr h="3308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12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dirty="0">
                          <a:effectLst/>
                        </a:rPr>
                        <a:t>-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0523747"/>
                  </a:ext>
                </a:extLst>
              </a:tr>
            </a:tbl>
          </a:graphicData>
        </a:graphic>
      </p:graphicFrame>
      <p:pic>
        <p:nvPicPr>
          <p:cNvPr id="12" name="Content Placeholder 1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700808"/>
            <a:ext cx="3600400" cy="2520280"/>
          </a:xfrm>
        </p:spPr>
      </p:pic>
    </p:spTree>
    <p:extLst>
      <p:ext uri="{BB962C8B-B14F-4D97-AF65-F5344CB8AC3E}">
        <p14:creationId xmlns:p14="http://schemas.microsoft.com/office/powerpoint/2010/main" val="4127445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4873724"/>
            <a:ext cx="809625" cy="571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759" y="4441676"/>
            <a:ext cx="809625" cy="571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446" y="3808357"/>
            <a:ext cx="809625" cy="571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Wiring </a:t>
            </a:r>
            <a:r>
              <a:rPr lang="en-US" dirty="0" smtClean="0">
                <a:latin typeface="Comic Sans MS" panose="030F0702030302020204" pitchFamily="66" charset="0"/>
              </a:rPr>
              <a:t>Diagram in series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F019-CEC0-4675-8781-99E13B68C24B}" type="datetime1">
              <a:rPr lang="sl-SI" smtClean="0"/>
              <a:pPr/>
              <a:t>8. 01. 2019</a:t>
            </a:fld>
            <a:endParaRPr lang="sl-SI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5B5F-0E27-49EB-8952-94DBB9B789D6}" type="slidenum">
              <a:rPr lang="sl-SI" smtClean="0"/>
              <a:pPr/>
              <a:t>5</a:t>
            </a:fld>
            <a:endParaRPr lang="sl-SI"/>
          </a:p>
        </p:txBody>
      </p:sp>
      <p:sp>
        <p:nvSpPr>
          <p:cNvPr id="20" name="Rectangle 19"/>
          <p:cNvSpPr/>
          <p:nvPr/>
        </p:nvSpPr>
        <p:spPr>
          <a:xfrm>
            <a:off x="395536" y="2924944"/>
            <a:ext cx="315074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782618" y="2924944"/>
            <a:ext cx="315074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1160582" y="2924944"/>
            <a:ext cx="315074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1619672" y="2924944"/>
            <a:ext cx="315074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2006754" y="2924944"/>
            <a:ext cx="315074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2384718" y="2924944"/>
            <a:ext cx="315074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2771800" y="2924944"/>
            <a:ext cx="315074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3158882" y="2924944"/>
            <a:ext cx="315074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3536846" y="2924944"/>
            <a:ext cx="315074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4040902" y="2924944"/>
            <a:ext cx="315074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40" name="Rectangle 39"/>
          <p:cNvSpPr/>
          <p:nvPr/>
        </p:nvSpPr>
        <p:spPr>
          <a:xfrm>
            <a:off x="4788024" y="2924944"/>
            <a:ext cx="315074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1" name="Rectangle 40"/>
          <p:cNvSpPr/>
          <p:nvPr/>
        </p:nvSpPr>
        <p:spPr>
          <a:xfrm>
            <a:off x="5175106" y="2924944"/>
            <a:ext cx="315074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42" name="Rectangle 41"/>
          <p:cNvSpPr/>
          <p:nvPr/>
        </p:nvSpPr>
        <p:spPr>
          <a:xfrm>
            <a:off x="5553070" y="2924944"/>
            <a:ext cx="315074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43" name="Rectangle 42"/>
          <p:cNvSpPr/>
          <p:nvPr/>
        </p:nvSpPr>
        <p:spPr>
          <a:xfrm>
            <a:off x="6012160" y="2924944"/>
            <a:ext cx="315074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44" name="Rectangle 43"/>
          <p:cNvSpPr/>
          <p:nvPr/>
        </p:nvSpPr>
        <p:spPr>
          <a:xfrm>
            <a:off x="6399242" y="2924944"/>
            <a:ext cx="315074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45" name="Rectangle 44"/>
          <p:cNvSpPr/>
          <p:nvPr/>
        </p:nvSpPr>
        <p:spPr>
          <a:xfrm>
            <a:off x="6777206" y="2924944"/>
            <a:ext cx="315074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46" name="Rectangle 45"/>
          <p:cNvSpPr/>
          <p:nvPr/>
        </p:nvSpPr>
        <p:spPr>
          <a:xfrm>
            <a:off x="7164288" y="2924944"/>
            <a:ext cx="315074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47" name="Rectangle 46"/>
          <p:cNvSpPr/>
          <p:nvPr/>
        </p:nvSpPr>
        <p:spPr>
          <a:xfrm>
            <a:off x="7551370" y="2924944"/>
            <a:ext cx="315074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48" name="Rectangle 47"/>
          <p:cNvSpPr/>
          <p:nvPr/>
        </p:nvSpPr>
        <p:spPr>
          <a:xfrm>
            <a:off x="7929334" y="2924944"/>
            <a:ext cx="315074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49" name="Rectangle 48"/>
          <p:cNvSpPr/>
          <p:nvPr/>
        </p:nvSpPr>
        <p:spPr>
          <a:xfrm>
            <a:off x="8433390" y="2924944"/>
            <a:ext cx="315074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dirty="0" smtClean="0"/>
              <a:t>N</a:t>
            </a:r>
            <a:endParaRPr lang="en-US" dirty="0"/>
          </a:p>
        </p:txBody>
      </p:sp>
      <p:cxnSp>
        <p:nvCxnSpPr>
          <p:cNvPr id="54" name="Straight Connector 53"/>
          <p:cNvCxnSpPr/>
          <p:nvPr/>
        </p:nvCxnSpPr>
        <p:spPr>
          <a:xfrm flipV="1">
            <a:off x="539552" y="3284984"/>
            <a:ext cx="0" cy="72008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H="1" flipV="1">
            <a:off x="1763688" y="3284984"/>
            <a:ext cx="13521" cy="1320205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 flipV="1">
            <a:off x="2915816" y="3284984"/>
            <a:ext cx="13521" cy="1728192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>
            <a:endCxn id="42" idx="2"/>
          </p:cNvCxnSpPr>
          <p:nvPr/>
        </p:nvCxnSpPr>
        <p:spPr>
          <a:xfrm flipV="1">
            <a:off x="1111544" y="3284984"/>
            <a:ext cx="4599063" cy="815986"/>
          </a:xfrm>
          <a:prstGeom prst="bentConnector2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/>
          <p:cNvCxnSpPr>
            <a:stCxn id="40" idx="2"/>
            <a:endCxn id="31" idx="2"/>
          </p:cNvCxnSpPr>
          <p:nvPr/>
        </p:nvCxnSpPr>
        <p:spPr>
          <a:xfrm rot="5400000">
            <a:off x="3131840" y="1471263"/>
            <a:ext cx="12700" cy="3627442"/>
          </a:xfrm>
          <a:prstGeom prst="bentConnector3">
            <a:avLst>
              <a:gd name="adj1" fmla="val 4782858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71"/>
          <p:cNvCxnSpPr>
            <a:endCxn id="45" idx="2"/>
          </p:cNvCxnSpPr>
          <p:nvPr/>
        </p:nvCxnSpPr>
        <p:spPr>
          <a:xfrm flipV="1">
            <a:off x="2373965" y="3284984"/>
            <a:ext cx="4560778" cy="1435204"/>
          </a:xfrm>
          <a:prstGeom prst="bentConnector2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/>
          <p:cNvCxnSpPr>
            <a:stCxn id="43" idx="2"/>
            <a:endCxn id="35" idx="2"/>
          </p:cNvCxnSpPr>
          <p:nvPr/>
        </p:nvCxnSpPr>
        <p:spPr>
          <a:xfrm rot="5400000">
            <a:off x="4355976" y="1471263"/>
            <a:ext cx="12700" cy="3627442"/>
          </a:xfrm>
          <a:prstGeom prst="bentConnector3">
            <a:avLst>
              <a:gd name="adj1" fmla="val 8897142"/>
            </a:avLst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Elbow Connector 77"/>
          <p:cNvCxnSpPr>
            <a:endCxn id="48" idx="2"/>
          </p:cNvCxnSpPr>
          <p:nvPr/>
        </p:nvCxnSpPr>
        <p:spPr>
          <a:xfrm flipV="1">
            <a:off x="3536846" y="3284984"/>
            <a:ext cx="4550025" cy="1871067"/>
          </a:xfrm>
          <a:prstGeom prst="bentConnector2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/>
          <p:cNvCxnSpPr>
            <a:stCxn id="46" idx="2"/>
            <a:endCxn id="38" idx="2"/>
          </p:cNvCxnSpPr>
          <p:nvPr/>
        </p:nvCxnSpPr>
        <p:spPr>
          <a:xfrm rot="5400000">
            <a:off x="5508104" y="1471263"/>
            <a:ext cx="12700" cy="3627442"/>
          </a:xfrm>
          <a:prstGeom prst="bentConnector3">
            <a:avLst>
              <a:gd name="adj1" fmla="val 12702858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/>
          <p:cNvCxnSpPr>
            <a:stCxn id="39" idx="2"/>
            <a:endCxn id="49" idx="2"/>
          </p:cNvCxnSpPr>
          <p:nvPr/>
        </p:nvCxnSpPr>
        <p:spPr>
          <a:xfrm rot="16200000" flipH="1">
            <a:off x="6394683" y="1088740"/>
            <a:ext cx="12700" cy="4392488"/>
          </a:xfrm>
          <a:prstGeom prst="bentConnector3">
            <a:avLst>
              <a:gd name="adj1" fmla="val 2622858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Elbow Connector 90"/>
          <p:cNvCxnSpPr>
            <a:stCxn id="30" idx="0"/>
            <a:endCxn id="41" idx="0"/>
          </p:cNvCxnSpPr>
          <p:nvPr/>
        </p:nvCxnSpPr>
        <p:spPr>
          <a:xfrm rot="5400000" flipH="1" flipV="1">
            <a:off x="3136399" y="728700"/>
            <a:ext cx="12700" cy="4392488"/>
          </a:xfrm>
          <a:prstGeom prst="bentConnector3">
            <a:avLst>
              <a:gd name="adj1" fmla="val 1800000"/>
            </a:avLst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Elbow Connector 92"/>
          <p:cNvCxnSpPr>
            <a:stCxn id="34" idx="0"/>
            <a:endCxn id="44" idx="0"/>
          </p:cNvCxnSpPr>
          <p:nvPr/>
        </p:nvCxnSpPr>
        <p:spPr>
          <a:xfrm rot="5400000" flipH="1" flipV="1">
            <a:off x="4360535" y="728700"/>
            <a:ext cx="12700" cy="4392488"/>
          </a:xfrm>
          <a:prstGeom prst="bentConnector3">
            <a:avLst>
              <a:gd name="adj1" fmla="val 3445709"/>
            </a:avLst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Elbow Connector 95"/>
          <p:cNvCxnSpPr>
            <a:stCxn id="37" idx="0"/>
            <a:endCxn id="47" idx="0"/>
          </p:cNvCxnSpPr>
          <p:nvPr/>
        </p:nvCxnSpPr>
        <p:spPr>
          <a:xfrm rot="5400000" flipH="1" flipV="1">
            <a:off x="5512663" y="728700"/>
            <a:ext cx="12700" cy="4392488"/>
          </a:xfrm>
          <a:prstGeom prst="bentConnector3">
            <a:avLst>
              <a:gd name="adj1" fmla="val 5605709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273338" y="1785926"/>
            <a:ext cx="4226654" cy="38753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4696480" y="1785926"/>
            <a:ext cx="4226654" cy="38753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/>
          <p:cNvSpPr txBox="1"/>
          <p:nvPr/>
        </p:nvSpPr>
        <p:spPr>
          <a:xfrm>
            <a:off x="539552" y="1817923"/>
            <a:ext cx="101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Old meter</a:t>
            </a:r>
            <a:endParaRPr lang="en-US" dirty="0"/>
          </a:p>
        </p:txBody>
      </p:sp>
      <p:sp>
        <p:nvSpPr>
          <p:cNvPr id="101" name="TextBox 100"/>
          <p:cNvSpPr txBox="1"/>
          <p:nvPr/>
        </p:nvSpPr>
        <p:spPr>
          <a:xfrm>
            <a:off x="7310459" y="1817923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new meter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469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mic Sans MS" panose="030F0702030302020204" pitchFamily="66" charset="0"/>
              </a:rPr>
              <a:t>Correct wiring connection</a:t>
            </a: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7824" y="3720384"/>
            <a:ext cx="4752528" cy="2820586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F019-CEC0-4675-8781-99E13B68C24B}" type="datetime1">
              <a:rPr lang="sl-SI" smtClean="0"/>
              <a:pPr/>
              <a:t>8. 01. 2019</a:t>
            </a:fld>
            <a:endParaRPr lang="sl-SI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5B5F-0E27-49EB-8952-94DBB9B789D6}" type="slidenum">
              <a:rPr lang="sl-SI" smtClean="0"/>
              <a:pPr/>
              <a:t>6</a:t>
            </a:fld>
            <a:endParaRPr lang="sl-SI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808" y="2016561"/>
            <a:ext cx="4752528" cy="14731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300" y="1958664"/>
            <a:ext cx="2574712" cy="350109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867" y="5515287"/>
            <a:ext cx="277894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Stranded cables can be used with appropriate ferrules only 	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67" y="5515287"/>
            <a:ext cx="2778941" cy="9233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750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42926"/>
            <a:ext cx="8229600" cy="69784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Comic Sans MS" panose="030F0702030302020204" pitchFamily="66" charset="0"/>
              </a:rPr>
              <a:t>SIM Card installation</a:t>
            </a: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340930"/>
            <a:ext cx="8229600" cy="2881569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F019-CEC0-4675-8781-99E13B68C24B}" type="datetime1">
              <a:rPr lang="sl-SI" smtClean="0"/>
              <a:pPr/>
              <a:t>8. 01. 2019</a:t>
            </a:fld>
            <a:endParaRPr lang="sl-SI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5B5F-0E27-49EB-8952-94DBB9B789D6}" type="slidenum">
              <a:rPr lang="sl-SI" smtClean="0"/>
              <a:pPr/>
              <a:t>7</a:t>
            </a:fld>
            <a:endParaRPr lang="sl-SI"/>
          </a:p>
        </p:txBody>
      </p:sp>
      <p:sp>
        <p:nvSpPr>
          <p:cNvPr id="8" name="Rectangle 7"/>
          <p:cNvSpPr/>
          <p:nvPr/>
        </p:nvSpPr>
        <p:spPr>
          <a:xfrm>
            <a:off x="611560" y="4611559"/>
            <a:ext cx="7848872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1- pull (step 1) the releasing mechanism till the final position (step 2). </a:t>
            </a:r>
          </a:p>
          <a:p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mic Sans MS" panose="030F0702030302020204" pitchFamily="66" charset="0"/>
              </a:rPr>
              <a:t>2- Module </a:t>
            </a:r>
            <a:r>
              <a:rPr 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will move up for a few </a:t>
            </a:r>
            <a:r>
              <a:rPr lang="en-US" dirty="0" smtClean="0">
                <a:solidFill>
                  <a:srgbClr val="000000"/>
                </a:solidFill>
                <a:latin typeface="Comic Sans MS" panose="030F0702030302020204" pitchFamily="66" charset="0"/>
              </a:rPr>
              <a:t>millimeters </a:t>
            </a:r>
            <a:r>
              <a:rPr 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and it can be easily removed (step 3). </a:t>
            </a:r>
          </a:p>
        </p:txBody>
      </p:sp>
    </p:spTree>
    <p:extLst>
      <p:ext uri="{BB962C8B-B14F-4D97-AF65-F5344CB8AC3E}">
        <p14:creationId xmlns:p14="http://schemas.microsoft.com/office/powerpoint/2010/main" val="1221657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42926"/>
            <a:ext cx="8229600" cy="69784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Comic Sans MS" panose="030F0702030302020204" pitchFamily="66" charset="0"/>
              </a:rPr>
              <a:t>SIM Card installation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F019-CEC0-4675-8781-99E13B68C24B}" type="datetime1">
              <a:rPr lang="sl-SI" smtClean="0"/>
              <a:pPr/>
              <a:t>8. 01. 2019</a:t>
            </a:fld>
            <a:endParaRPr lang="sl-SI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5B5F-0E27-49EB-8952-94DBB9B789D6}" type="slidenum">
              <a:rPr lang="sl-SI" smtClean="0"/>
              <a:pPr/>
              <a:t>8</a:t>
            </a:fld>
            <a:endParaRPr lang="sl-SI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6" y="1346000"/>
            <a:ext cx="8874150" cy="309111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3528" y="4359998"/>
            <a:ext cx="8496944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1. SIM card holder is placed on the bottom side of communication module. </a:t>
            </a:r>
          </a:p>
          <a:p>
            <a:r>
              <a:rPr 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2. To insert the card, move SIM card locking mechanism down, </a:t>
            </a:r>
          </a:p>
          <a:p>
            <a:r>
              <a:rPr 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3. open holder and </a:t>
            </a:r>
          </a:p>
          <a:p>
            <a:r>
              <a:rPr 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4. gently insert the card. </a:t>
            </a:r>
          </a:p>
          <a:p>
            <a:r>
              <a:rPr 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5. Close it and lock mechanism pushing it up. </a:t>
            </a:r>
          </a:p>
        </p:txBody>
      </p:sp>
    </p:spTree>
    <p:extLst>
      <p:ext uri="{BB962C8B-B14F-4D97-AF65-F5344CB8AC3E}">
        <p14:creationId xmlns:p14="http://schemas.microsoft.com/office/powerpoint/2010/main" val="561515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42926"/>
            <a:ext cx="8229600" cy="69784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Comic Sans MS" panose="030F0702030302020204" pitchFamily="66" charset="0"/>
              </a:rPr>
              <a:t>SIM Card installation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F019-CEC0-4675-8781-99E13B68C24B}" type="datetime1">
              <a:rPr lang="sl-SI" smtClean="0"/>
              <a:pPr/>
              <a:t>8. 01. 2019</a:t>
            </a:fld>
            <a:endParaRPr lang="sl-SI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5B5F-0E27-49EB-8952-94DBB9B789D6}" type="slidenum">
              <a:rPr lang="sl-SI" smtClean="0"/>
              <a:pPr/>
              <a:t>9</a:t>
            </a:fld>
            <a:endParaRPr lang="sl-SI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0585"/>
            <a:ext cx="9137301" cy="355857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7014" y="4509120"/>
            <a:ext cx="8505466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1. move locking mechanism to the “middle” position, where arrows are aligned in the line (step 1), </a:t>
            </a:r>
          </a:p>
          <a:p>
            <a:r>
              <a:rPr 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2. carefully insert the module (step 2), </a:t>
            </a:r>
          </a:p>
          <a:p>
            <a:r>
              <a:rPr 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3. gently press the module down and move locking mechanism into the “locked” position (step 3). </a:t>
            </a:r>
          </a:p>
        </p:txBody>
      </p:sp>
    </p:spTree>
    <p:extLst>
      <p:ext uri="{BB962C8B-B14F-4D97-AF65-F5344CB8AC3E}">
        <p14:creationId xmlns:p14="http://schemas.microsoft.com/office/powerpoint/2010/main" val="2028291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omic Sans MS" panose="030F0702030302020204" pitchFamily="66" charset="0"/>
              </a:rPr>
              <a:t>Meter Dimension</a:t>
            </a: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1811565"/>
            <a:ext cx="6048672" cy="4525962"/>
          </a:xfrm>
          <a:effectLst>
            <a:outerShdw dist="50800" dir="5400000" algn="ctr" rotWithShape="0">
              <a:srgbClr val="000000">
                <a:alpha val="43137"/>
              </a:srgbClr>
            </a:outerShdw>
            <a:reflection stA="45000" endPos="0" dist="50800" dir="5400000" sy="-100000" algn="bl" rotWithShape="0"/>
          </a:effectLst>
          <a:scene3d>
            <a:camera prst="orthographicFront"/>
            <a:lightRig rig="threePt" dir="t"/>
          </a:scene3d>
          <a:sp3d extrusionH="355600" contourW="25400">
            <a:bevelT w="57150"/>
            <a:bevelB w="57150"/>
            <a:extrusionClr>
              <a:schemeClr val="tx1"/>
            </a:extrusionClr>
          </a:sp3d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5B5F-0E27-49EB-8952-94DBB9B789D6}" type="slidenum">
              <a:rPr lang="sl-SI" smtClean="0"/>
              <a:pPr/>
              <a:t>10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326771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2276871"/>
            <a:ext cx="5832648" cy="2368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251520" y="620688"/>
            <a:ext cx="6768752" cy="648072"/>
          </a:xfrm>
        </p:spPr>
        <p:txBody>
          <a:bodyPr>
            <a:noAutofit/>
          </a:bodyPr>
          <a:lstStyle/>
          <a:p>
            <a:pPr marL="342900" lvl="1" indent="-342900" algn="l"/>
            <a:r>
              <a:rPr lang="en-US" altLang="en-US" sz="3200" b="1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Meter parts</a:t>
            </a:r>
            <a:r>
              <a:rPr lang="sl-SI" altLang="en-US" sz="3200" b="1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 - LCD</a:t>
            </a:r>
            <a:endParaRPr lang="en-US" altLang="en-US" sz="32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Ograda številke diapoz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5B5F-0E27-49EB-8952-94DBB9B789D6}" type="slidenum">
              <a:rPr lang="sl-SI" smtClean="0">
                <a:latin typeface="Comic Sans MS" panose="030F0702030302020204" pitchFamily="66" charset="0"/>
              </a:rPr>
              <a:pPr/>
              <a:t>11</a:t>
            </a:fld>
            <a:endParaRPr lang="sl-SI" dirty="0">
              <a:latin typeface="Comic Sans MS" panose="030F0702030302020204" pitchFamily="66" charset="0"/>
            </a:endParaRPr>
          </a:p>
        </p:txBody>
      </p:sp>
      <p:sp>
        <p:nvSpPr>
          <p:cNvPr id="33" name="PoljeZBesedilom 32"/>
          <p:cNvSpPr txBox="1"/>
          <p:nvPr/>
        </p:nvSpPr>
        <p:spPr>
          <a:xfrm>
            <a:off x="107504" y="3068960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mic Sans MS" panose="030F0702030302020204" pitchFamily="66" charset="0"/>
              </a:rPr>
              <a:t>OBIS code</a:t>
            </a:r>
            <a:endParaRPr lang="en-US" dirty="0">
              <a:latin typeface="Comic Sans MS" panose="030F0702030302020204" pitchFamily="66" charset="0"/>
            </a:endParaRPr>
          </a:p>
        </p:txBody>
      </p:sp>
      <p:cxnSp>
        <p:nvCxnSpPr>
          <p:cNvPr id="34" name="Raven konektor 33"/>
          <p:cNvCxnSpPr>
            <a:stCxn id="33" idx="2"/>
          </p:cNvCxnSpPr>
          <p:nvPr/>
        </p:nvCxnSpPr>
        <p:spPr>
          <a:xfrm>
            <a:off x="1295636" y="3438292"/>
            <a:ext cx="468052" cy="27874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PoljeZBesedilom 56"/>
          <p:cNvSpPr txBox="1"/>
          <p:nvPr/>
        </p:nvSpPr>
        <p:spPr>
          <a:xfrm>
            <a:off x="827584" y="1556792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mic Sans MS" panose="030F0702030302020204" pitchFamily="66" charset="0"/>
              </a:rPr>
              <a:t>Information quadrant</a:t>
            </a:r>
            <a:endParaRPr lang="en-US" dirty="0">
              <a:latin typeface="Comic Sans MS" panose="030F0702030302020204" pitchFamily="66" charset="0"/>
            </a:endParaRPr>
          </a:p>
        </p:txBody>
      </p:sp>
      <p:cxnSp>
        <p:nvCxnSpPr>
          <p:cNvPr id="58" name="Raven konektor 57"/>
          <p:cNvCxnSpPr/>
          <p:nvPr/>
        </p:nvCxnSpPr>
        <p:spPr>
          <a:xfrm>
            <a:off x="1755304" y="1844824"/>
            <a:ext cx="472244" cy="646331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oljeZBesedilom 17"/>
          <p:cNvSpPr txBox="1"/>
          <p:nvPr/>
        </p:nvSpPr>
        <p:spPr>
          <a:xfrm>
            <a:off x="2771800" y="1268760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mic Sans MS" panose="030F0702030302020204" pitchFamily="66" charset="0"/>
              </a:rPr>
              <a:t>Voltage &amp; current presence (direction)</a:t>
            </a:r>
            <a:endParaRPr lang="en-US" dirty="0">
              <a:latin typeface="Comic Sans MS" panose="030F0702030302020204" pitchFamily="66" charset="0"/>
            </a:endParaRPr>
          </a:p>
        </p:txBody>
      </p:sp>
      <p:cxnSp>
        <p:nvCxnSpPr>
          <p:cNvPr id="19" name="Raven konektor 18"/>
          <p:cNvCxnSpPr/>
          <p:nvPr/>
        </p:nvCxnSpPr>
        <p:spPr>
          <a:xfrm>
            <a:off x="3779912" y="1915091"/>
            <a:ext cx="0" cy="432048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oljeZBesedilom 26"/>
          <p:cNvSpPr txBox="1"/>
          <p:nvPr/>
        </p:nvSpPr>
        <p:spPr>
          <a:xfrm>
            <a:off x="827584" y="5003884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mic Sans MS" panose="030F0702030302020204" pitchFamily="66" charset="0"/>
              </a:rPr>
              <a:t>Cursors</a:t>
            </a:r>
            <a:endParaRPr lang="en-US" dirty="0">
              <a:latin typeface="Comic Sans MS" panose="030F0702030302020204" pitchFamily="66" charset="0"/>
            </a:endParaRPr>
          </a:p>
        </p:txBody>
      </p:sp>
      <p:cxnSp>
        <p:nvCxnSpPr>
          <p:cNvPr id="28" name="Raven konektor 27"/>
          <p:cNvCxnSpPr/>
          <p:nvPr/>
        </p:nvCxnSpPr>
        <p:spPr>
          <a:xfrm flipH="1">
            <a:off x="1331640" y="4388910"/>
            <a:ext cx="954106" cy="552258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PoljeZBesedilom 30"/>
          <p:cNvSpPr txBox="1"/>
          <p:nvPr/>
        </p:nvSpPr>
        <p:spPr>
          <a:xfrm>
            <a:off x="3419872" y="5048987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mic Sans MS" panose="030F0702030302020204" pitchFamily="66" charset="0"/>
              </a:rPr>
              <a:t>Register value</a:t>
            </a:r>
            <a:endParaRPr lang="en-US" dirty="0">
              <a:latin typeface="Comic Sans MS" panose="030F0702030302020204" pitchFamily="66" charset="0"/>
            </a:endParaRPr>
          </a:p>
        </p:txBody>
      </p:sp>
      <p:cxnSp>
        <p:nvCxnSpPr>
          <p:cNvPr id="32" name="Raven konektor 31"/>
          <p:cNvCxnSpPr/>
          <p:nvPr/>
        </p:nvCxnSpPr>
        <p:spPr>
          <a:xfrm flipH="1">
            <a:off x="3959932" y="3779748"/>
            <a:ext cx="756084" cy="1269239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PoljeZBesedilom 34"/>
          <p:cNvSpPr txBox="1"/>
          <p:nvPr/>
        </p:nvSpPr>
        <p:spPr>
          <a:xfrm>
            <a:off x="5004048" y="1196752"/>
            <a:ext cx="3096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mic Sans MS" panose="030F0702030302020204" pitchFamily="66" charset="0"/>
              </a:rPr>
              <a:t>Register units, different statuses</a:t>
            </a:r>
            <a:r>
              <a:rPr lang="sl-SI" dirty="0" smtClean="0">
                <a:latin typeface="Comic Sans MS" panose="030F0702030302020204" pitchFamily="66" charset="0"/>
              </a:rPr>
              <a:t> </a:t>
            </a:r>
            <a:endParaRPr lang="en-US" dirty="0">
              <a:latin typeface="Comic Sans MS" panose="030F0702030302020204" pitchFamily="66" charset="0"/>
            </a:endParaRPr>
          </a:p>
        </p:txBody>
      </p:sp>
      <p:cxnSp>
        <p:nvCxnSpPr>
          <p:cNvPr id="36" name="Raven konektor 35"/>
          <p:cNvCxnSpPr/>
          <p:nvPr/>
        </p:nvCxnSpPr>
        <p:spPr>
          <a:xfrm>
            <a:off x="6228184" y="1556792"/>
            <a:ext cx="0" cy="646331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3203848" y="2348880"/>
            <a:ext cx="1152128" cy="12241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5940152" y="2276871"/>
            <a:ext cx="576064" cy="7920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1979712" y="2420888"/>
            <a:ext cx="1152128" cy="12241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251520" y="620688"/>
            <a:ext cx="6624736" cy="648072"/>
          </a:xfrm>
        </p:spPr>
        <p:txBody>
          <a:bodyPr>
            <a:noAutofit/>
          </a:bodyPr>
          <a:lstStyle/>
          <a:p>
            <a:pPr marL="342900" lvl="1" indent="-342900" algn="l"/>
            <a:r>
              <a:rPr lang="en-US" altLang="en-US" sz="3200" b="1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Correct installation procedure </a:t>
            </a:r>
            <a:endParaRPr lang="en-US" altLang="en-US" sz="32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Ograda številke diapoz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5B5F-0E27-49EB-8952-94DBB9B789D6}" type="slidenum">
              <a:rPr lang="sl-SI" smtClean="0">
                <a:latin typeface="Comic Sans MS" panose="030F0702030302020204" pitchFamily="66" charset="0"/>
              </a:rPr>
              <a:pPr/>
              <a:t>12</a:t>
            </a:fld>
            <a:endParaRPr lang="sl-SI" dirty="0">
              <a:latin typeface="Comic Sans MS" panose="030F0702030302020204" pitchFamily="66" charset="0"/>
            </a:endParaRPr>
          </a:p>
        </p:txBody>
      </p:sp>
      <p:sp>
        <p:nvSpPr>
          <p:cNvPr id="9" name="Podnaslov 2"/>
          <p:cNvSpPr txBox="1">
            <a:spLocks/>
          </p:cNvSpPr>
          <p:nvPr/>
        </p:nvSpPr>
        <p:spPr>
          <a:xfrm>
            <a:off x="323528" y="1484784"/>
            <a:ext cx="6552728" cy="403244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en-US" sz="2800" dirty="0" smtClean="0">
                <a:latin typeface="Comic Sans MS" panose="030F0702030302020204" pitchFamily="66" charset="0"/>
              </a:rPr>
              <a:t>Actual connection state on the LCD</a:t>
            </a:r>
          </a:p>
          <a:p>
            <a:pPr marL="800100" lvl="2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en-US" sz="2800" dirty="0" smtClean="0">
                <a:latin typeface="Comic Sans MS" panose="030F0702030302020204" pitchFamily="66" charset="0"/>
              </a:rPr>
              <a:t>Phase quadrants </a:t>
            </a:r>
          </a:p>
          <a:p>
            <a:pPr marL="800100" lvl="2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en-US" sz="2800" dirty="0" smtClean="0">
                <a:latin typeface="Comic Sans MS" panose="030F0702030302020204" pitchFamily="66" charset="0"/>
              </a:rPr>
              <a:t>Voltage presence and rotation field</a:t>
            </a:r>
          </a:p>
          <a:p>
            <a:pPr marL="800100" lvl="2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en-US" sz="2800" dirty="0" smtClean="0">
                <a:latin typeface="Comic Sans MS" panose="030F0702030302020204" pitchFamily="66" charset="0"/>
              </a:rPr>
              <a:t>Current presence and direction</a:t>
            </a:r>
          </a:p>
          <a:p>
            <a:pPr marL="800100" lvl="2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en-US" sz="2800" dirty="0" smtClean="0">
                <a:latin typeface="Comic Sans MS" panose="030F0702030302020204" pitchFamily="66" charset="0"/>
              </a:rPr>
              <a:t>Load control state, battery state, 5A relay state, alarm presence</a:t>
            </a:r>
          </a:p>
          <a:p>
            <a:pPr marL="800100" lvl="2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en-US" sz="2800" dirty="0" smtClean="0">
              <a:latin typeface="Comic Sans MS" panose="030F0702030302020204" pitchFamily="66" charset="0"/>
            </a:endParaRPr>
          </a:p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sl-SI" altLang="en-US" sz="2800" dirty="0" smtClean="0">
              <a:latin typeface="Comic Sans MS" panose="030F0702030302020204" pitchFamily="66" charset="0"/>
            </a:endParaRPr>
          </a:p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sl-SI" altLang="en-US" sz="2800" noProof="0" dirty="0" smtClean="0">
              <a:latin typeface="Comic Sans MS" panose="030F0702030302020204" pitchFamily="66" charset="0"/>
            </a:endParaRPr>
          </a:p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sl-SI" altLang="en-US" sz="2800" dirty="0" smtClean="0">
              <a:latin typeface="Comic Sans MS" panose="030F0702030302020204" pitchFamily="66" charset="0"/>
            </a:endParaRPr>
          </a:p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sl-SI" altLang="en-US" sz="2800" noProof="0" dirty="0" smtClean="0">
              <a:latin typeface="Comic Sans MS" panose="030F0702030302020204" pitchFamily="66" charset="0"/>
            </a:endParaRPr>
          </a:p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en-US" sz="2800" dirty="0" smtClean="0">
                <a:latin typeface="Comic Sans MS" panose="030F0702030302020204" pitchFamily="66" charset="0"/>
              </a:rPr>
              <a:t>Please fill the checklist</a:t>
            </a:r>
            <a:endParaRPr kumimoji="0" lang="en-US" altLang="en-US" sz="2800" b="0" i="0" u="none" strike="noStrike" kern="120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3573016"/>
            <a:ext cx="3384376" cy="1147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86268" y="620688"/>
            <a:ext cx="1750228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Podnaslov 2"/>
          <p:cNvSpPr txBox="1">
            <a:spLocks/>
          </p:cNvSpPr>
          <p:nvPr/>
        </p:nvSpPr>
        <p:spPr>
          <a:xfrm>
            <a:off x="1763688" y="5626669"/>
            <a:ext cx="4341992" cy="836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1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8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Photo After installation</a:t>
            </a:r>
            <a:endParaRPr kumimoji="0" lang="en-US" altLang="en-US" sz="2800" b="0" i="0" u="none" strike="noStrike" kern="1200" cap="none" spc="0" normalizeH="0" baseline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grada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C9AC5-3995-4C8F-93DF-3321ED995EB2}" type="datetime1">
              <a:rPr lang="sl-SI" smtClean="0">
                <a:latin typeface="+mn-lt"/>
              </a:rPr>
              <a:pPr/>
              <a:t>8. 01. 2019</a:t>
            </a:fld>
            <a:endParaRPr lang="sl-SI" dirty="0">
              <a:latin typeface="+mn-lt"/>
            </a:endParaRPr>
          </a:p>
        </p:txBody>
      </p:sp>
      <p:sp>
        <p:nvSpPr>
          <p:cNvPr id="5" name="Ograda številke diapoz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5B5F-0E27-49EB-8952-94DBB9B789D6}" type="slidenum">
              <a:rPr lang="sl-SI" smtClean="0"/>
              <a:pPr/>
              <a:t>13</a:t>
            </a:fld>
            <a:endParaRPr lang="sl-SI" dirty="0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8299" y="1042988"/>
            <a:ext cx="8181715" cy="51943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plate_2012">
  <a:themeElements>
    <a:clrScheme name="Pisar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o meri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isar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Template_2012</Template>
  <TotalTime>10547</TotalTime>
  <Words>418</Words>
  <Application>Microsoft Office PowerPoint</Application>
  <PresentationFormat>On-screen Show (4:3)</PresentationFormat>
  <Paragraphs>130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ＭＳ Ｐゴシック</vt:lpstr>
      <vt:lpstr>Arial</vt:lpstr>
      <vt:lpstr>Arial Narrow</vt:lpstr>
      <vt:lpstr>Calibri</vt:lpstr>
      <vt:lpstr>Comic Sans MS</vt:lpstr>
      <vt:lpstr>Viner Hand ITC</vt:lpstr>
      <vt:lpstr>Template_2012</vt:lpstr>
      <vt:lpstr>PowerPoint Presentation</vt:lpstr>
      <vt:lpstr>PowerPoint Presentation</vt:lpstr>
      <vt:lpstr>PowerPoint Presentation</vt:lpstr>
      <vt:lpstr>Wiring Diagram</vt:lpstr>
      <vt:lpstr>Wiring Diagram in series</vt:lpstr>
      <vt:lpstr>Correct wiring connection</vt:lpstr>
      <vt:lpstr>SIM Card installation</vt:lpstr>
      <vt:lpstr>SIM Card installation</vt:lpstr>
      <vt:lpstr>SIM Card installation</vt:lpstr>
      <vt:lpstr>Meter Dimension</vt:lpstr>
      <vt:lpstr>PowerPoint Presentation</vt:lpstr>
      <vt:lpstr>PowerPoint Presentation</vt:lpstr>
      <vt:lpstr>PowerPoint Presentation</vt:lpstr>
    </vt:vector>
  </TitlesOfParts>
  <Company>Iskraemeco, d.d.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MT880</dc:title>
  <dc:creator>m_hribar</dc:creator>
  <cp:lastModifiedBy>Iskraegypt</cp:lastModifiedBy>
  <cp:revision>393</cp:revision>
  <dcterms:created xsi:type="dcterms:W3CDTF">2012-06-01T08:29:55Z</dcterms:created>
  <dcterms:modified xsi:type="dcterms:W3CDTF">2019-01-08T11:00:02Z</dcterms:modified>
</cp:coreProperties>
</file>